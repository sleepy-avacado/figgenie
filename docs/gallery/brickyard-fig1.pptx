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86487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:build-pool-2 框"/>
          <p:cNvSpPr/>
          <p:nvPr/>
        </p:nvSpPr>
        <p:spPr>
          <a:xfrm>
            <a:off x="495300" y="2171700"/>
            <a:ext cx="8420100" cy="5905500"/>
          </a:xfrm>
          <a:prstGeom prst="roundRect">
            <a:avLst>
              <a:gd name="adj" fmla="val 967"/>
            </a:avLst>
          </a:prstGeom>
          <a:solidFill>
            <a:srgbClr val="FFFFFF"/>
          </a:solidFill>
          <a:ln w="19050" cap="flat">
            <a:solidFill>
              <a:srgbClr val="03030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grpSp>
        <p:nvGrpSpPr>
          <p:cNvPr id="169" name="c:ci-service CI Service &amp; Webhooks"/>
          <p:cNvGrpSpPr/>
          <p:nvPr/>
        </p:nvGrpSpPr>
        <p:grpSpPr>
          <a:xfrm>
            <a:off x="228600" y="85534"/>
            <a:ext cx="8686800" cy="1362266"/>
            <a:chOff x="228600" y="85534"/>
            <a:chExt cx="8686800" cy="1362266"/>
          </a:xfrm>
        </p:grpSpPr>
        <p:sp>
          <p:nvSpPr>
            <p:cNvPr id="3" name="c:ci-service 框"/>
            <p:cNvSpPr/>
            <p:nvPr/>
          </p:nvSpPr>
          <p:spPr>
            <a:xfrm>
              <a:off x="228600" y="152400"/>
              <a:ext cx="8686800" cy="1295400"/>
            </a:xfrm>
            <a:prstGeom prst="roundRect">
              <a:avLst>
                <a:gd name="adj" fmla="val 4411"/>
              </a:avLst>
            </a:prstGeom>
            <a:solidFill>
              <a:srgbClr val="F2F2F2"/>
            </a:solidFill>
            <a:ln w="19050" cap="flat">
              <a:solidFill>
                <a:srgbClr val="03030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4" name="c:ci-service 文字"/>
            <p:cNvSpPr txBox="1"/>
            <p:nvPr/>
          </p:nvSpPr>
          <p:spPr>
            <a:xfrm>
              <a:off x="381000" y="85534"/>
              <a:ext cx="3512820" cy="5867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2100" b="1" i="0">
                  <a:solidFill>
                    <a:srgbClr val="030303"/>
                  </a:solidFill>
                  <a:latin typeface="Helvetica Neue"/>
                  <a:ea typeface="Source Han Sans CN"/>
                </a:rPr>
                <a:t>CI Service &amp; Webhooks</a:t>
              </a:r>
            </a:p>
          </p:txBody>
        </p:sp>
      </p:grpSp>
      <p:grpSp>
        <p:nvGrpSpPr>
          <p:cNvPr id="170" name="c:build-pool Build Pool 1"/>
          <p:cNvGrpSpPr/>
          <p:nvPr/>
        </p:nvGrpSpPr>
        <p:grpSpPr>
          <a:xfrm>
            <a:off x="228600" y="1809559"/>
            <a:ext cx="8420100" cy="6000941"/>
            <a:chOff x="228600" y="1809559"/>
            <a:chExt cx="8420100" cy="6000941"/>
          </a:xfrm>
        </p:grpSpPr>
        <p:sp>
          <p:nvSpPr>
            <p:cNvPr id="5" name="c:build-pool 框"/>
            <p:cNvSpPr/>
            <p:nvPr/>
          </p:nvSpPr>
          <p:spPr>
            <a:xfrm>
              <a:off x="228600" y="1905000"/>
              <a:ext cx="8420100" cy="5905500"/>
            </a:xfrm>
            <a:prstGeom prst="roundRect">
              <a:avLst>
                <a:gd name="adj" fmla="val 967"/>
              </a:avLst>
            </a:prstGeom>
            <a:solidFill>
              <a:srgbClr val="FFFFFF"/>
            </a:solidFill>
            <a:ln w="19050" cap="flat">
              <a:solidFill>
                <a:srgbClr val="03030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6" name="c:build-pool 文字"/>
            <p:cNvSpPr txBox="1"/>
            <p:nvPr/>
          </p:nvSpPr>
          <p:spPr>
            <a:xfrm>
              <a:off x="381000" y="1809559"/>
              <a:ext cx="2072639" cy="5867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2100" b="1" i="0">
                  <a:solidFill>
                    <a:srgbClr val="030303"/>
                  </a:solidFill>
                  <a:latin typeface="Helvetica Neue"/>
                  <a:ea typeface="Source Han Sans CN"/>
                </a:rPr>
                <a:t>Build Pool 1</a:t>
              </a:r>
            </a:p>
          </p:txBody>
        </p:sp>
      </p:grpSp>
      <p:grpSp>
        <p:nvGrpSpPr>
          <p:cNvPr id="171" name="c:build-planner Build Planner"/>
          <p:cNvGrpSpPr/>
          <p:nvPr/>
        </p:nvGrpSpPr>
        <p:grpSpPr>
          <a:xfrm>
            <a:off x="-118300" y="3619500"/>
            <a:ext cx="8614600" cy="2362200"/>
            <a:chOff x="-118300" y="3619500"/>
            <a:chExt cx="8614600" cy="2362200"/>
          </a:xfrm>
        </p:grpSpPr>
        <p:sp>
          <p:nvSpPr>
            <p:cNvPr id="7" name="c:build-planner 框"/>
            <p:cNvSpPr/>
            <p:nvPr/>
          </p:nvSpPr>
          <p:spPr>
            <a:xfrm>
              <a:off x="381000" y="3619500"/>
              <a:ext cx="8115300" cy="2362200"/>
            </a:xfrm>
            <a:prstGeom prst="roundRect">
              <a:avLst>
                <a:gd name="adj" fmla="val 2419"/>
              </a:avLst>
            </a:prstGeom>
            <a:solidFill>
              <a:srgbClr val="F3F8FD"/>
            </a:solidFill>
            <a:ln w="19050" cap="flat">
              <a:solidFill>
                <a:srgbClr val="03030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8" name="c:build-planner 文字"/>
            <p:cNvSpPr txBox="1"/>
            <p:nvPr/>
          </p:nvSpPr>
          <p:spPr>
            <a:xfrm rot="16200000">
              <a:off x="-118300" y="4507230"/>
              <a:ext cx="2251710" cy="5867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2100" b="1" i="0">
                  <a:solidFill>
                    <a:srgbClr val="030303"/>
                  </a:solidFill>
                  <a:latin typeface="Helvetica Neue"/>
                  <a:ea typeface="Source Han Sans CN"/>
                </a:rPr>
                <a:t>Build Planner</a:t>
              </a:r>
            </a:p>
          </p:txBody>
        </p:sp>
      </p:grpSp>
      <p:grpSp>
        <p:nvGrpSpPr>
          <p:cNvPr id="172" name="c:runner Runner 1"/>
          <p:cNvGrpSpPr/>
          <p:nvPr/>
        </p:nvGrpSpPr>
        <p:grpSpPr>
          <a:xfrm>
            <a:off x="457200" y="6271355"/>
            <a:ext cx="2438400" cy="1386745"/>
            <a:chOff x="457200" y="6271355"/>
            <a:chExt cx="2438400" cy="1386745"/>
          </a:xfrm>
        </p:grpSpPr>
        <p:sp>
          <p:nvSpPr>
            <p:cNvPr id="9" name="c:runner 框"/>
            <p:cNvSpPr/>
            <p:nvPr/>
          </p:nvSpPr>
          <p:spPr>
            <a:xfrm>
              <a:off x="457200" y="6362700"/>
              <a:ext cx="2438400" cy="1295400"/>
            </a:xfrm>
            <a:prstGeom prst="roundRect">
              <a:avLst>
                <a:gd name="adj" fmla="val 4411"/>
              </a:avLst>
            </a:prstGeom>
            <a:solidFill>
              <a:srgbClr val="FFFFFF"/>
            </a:solidFill>
            <a:ln w="19050" cap="flat">
              <a:solidFill>
                <a:srgbClr val="03030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0" name="c:runner 文字"/>
            <p:cNvSpPr txBox="1"/>
            <p:nvPr/>
          </p:nvSpPr>
          <p:spPr>
            <a:xfrm>
              <a:off x="571500" y="6271355"/>
              <a:ext cx="156972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950" b="1" i="0">
                  <a:solidFill>
                    <a:srgbClr val="030303"/>
                  </a:solidFill>
                  <a:latin typeface="Helvetica Neue"/>
                  <a:ea typeface="Source Han Sans CN"/>
                </a:rPr>
                <a:t>Runner 1</a:t>
              </a:r>
            </a:p>
          </p:txBody>
        </p:sp>
        <p:sp>
          <p:nvSpPr>
            <p:cNvPr id="11" name="c:runner 框"/>
            <p:cNvSpPr/>
            <p:nvPr/>
          </p:nvSpPr>
          <p:spPr>
            <a:xfrm>
              <a:off x="2524125" y="6448425"/>
              <a:ext cx="209550" cy="247650"/>
            </a:xfrm>
            <a:prstGeom prst="roundRect">
              <a:avLst>
                <a:gd name="adj" fmla="val 7272"/>
              </a:avLst>
            </a:prstGeom>
            <a:noFill/>
            <a:ln w="30480" cap="rnd">
              <a:solidFill>
                <a:srgbClr val="03030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cxnSp>
          <p:nvCxnSpPr>
            <p:cNvPr id="12" name="c:runner 线"/>
            <p:cNvCxnSpPr/>
            <p:nvPr/>
          </p:nvCxnSpPr>
          <p:spPr>
            <a:xfrm>
              <a:off x="2524125" y="6510337"/>
              <a:ext cx="209550" cy="0"/>
            </a:xfrm>
            <a:prstGeom prst="line">
              <a:avLst/>
            </a:prstGeom>
            <a:ln w="30480" cap="rnd">
              <a:solidFill>
                <a:srgbClr val="03030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:runner 线"/>
            <p:cNvCxnSpPr/>
            <p:nvPr/>
          </p:nvCxnSpPr>
          <p:spPr>
            <a:xfrm>
              <a:off x="2524125" y="6572250"/>
              <a:ext cx="209550" cy="0"/>
            </a:xfrm>
            <a:prstGeom prst="line">
              <a:avLst/>
            </a:prstGeom>
            <a:ln w="30480" cap="rnd">
              <a:solidFill>
                <a:srgbClr val="03030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:runner 线"/>
            <p:cNvCxnSpPr/>
            <p:nvPr/>
          </p:nvCxnSpPr>
          <p:spPr>
            <a:xfrm>
              <a:off x="2524125" y="6634162"/>
              <a:ext cx="209550" cy="0"/>
            </a:xfrm>
            <a:prstGeom prst="line">
              <a:avLst/>
            </a:prstGeom>
            <a:ln w="30480" cap="rnd">
              <a:solidFill>
                <a:srgbClr val="03030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:runner 线"/>
            <p:cNvCxnSpPr/>
            <p:nvPr/>
          </p:nvCxnSpPr>
          <p:spPr>
            <a:xfrm>
              <a:off x="2546985" y="6478905"/>
              <a:ext cx="93344" cy="0"/>
            </a:xfrm>
            <a:prstGeom prst="line">
              <a:avLst/>
            </a:prstGeom>
            <a:ln w="30480" cap="rnd">
              <a:solidFill>
                <a:srgbClr val="03030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c:runner 圆"/>
            <p:cNvSpPr/>
            <p:nvPr/>
          </p:nvSpPr>
          <p:spPr>
            <a:xfrm>
              <a:off x="2682240" y="6469380"/>
              <a:ext cx="19050" cy="19050"/>
            </a:xfrm>
            <a:prstGeom prst="ellipse">
              <a:avLst/>
            </a:prstGeom>
            <a:solidFill>
              <a:srgbClr val="030303"/>
            </a:solidFill>
            <a:ln w="30480" cap="rnd">
              <a:solidFill>
                <a:srgbClr val="03030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cxnSp>
          <p:nvCxnSpPr>
            <p:cNvPr id="17" name="c:runner 线"/>
            <p:cNvCxnSpPr/>
            <p:nvPr/>
          </p:nvCxnSpPr>
          <p:spPr>
            <a:xfrm>
              <a:off x="2546985" y="6541769"/>
              <a:ext cx="93344" cy="0"/>
            </a:xfrm>
            <a:prstGeom prst="line">
              <a:avLst/>
            </a:prstGeom>
            <a:ln w="30480" cap="rnd">
              <a:solidFill>
                <a:srgbClr val="03030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c:runner 圆"/>
            <p:cNvSpPr/>
            <p:nvPr/>
          </p:nvSpPr>
          <p:spPr>
            <a:xfrm>
              <a:off x="2682240" y="6532244"/>
              <a:ext cx="19050" cy="19050"/>
            </a:xfrm>
            <a:prstGeom prst="ellipse">
              <a:avLst/>
            </a:prstGeom>
            <a:solidFill>
              <a:srgbClr val="030303"/>
            </a:solidFill>
            <a:ln w="30480" cap="rnd">
              <a:solidFill>
                <a:srgbClr val="03030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cxnSp>
          <p:nvCxnSpPr>
            <p:cNvPr id="19" name="c:runner 线"/>
            <p:cNvCxnSpPr/>
            <p:nvPr/>
          </p:nvCxnSpPr>
          <p:spPr>
            <a:xfrm>
              <a:off x="2546985" y="6602730"/>
              <a:ext cx="93344" cy="0"/>
            </a:xfrm>
            <a:prstGeom prst="line">
              <a:avLst/>
            </a:prstGeom>
            <a:ln w="30480" cap="rnd">
              <a:solidFill>
                <a:srgbClr val="03030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c:runner 圆"/>
            <p:cNvSpPr/>
            <p:nvPr/>
          </p:nvSpPr>
          <p:spPr>
            <a:xfrm>
              <a:off x="2682240" y="6593205"/>
              <a:ext cx="19050" cy="19050"/>
            </a:xfrm>
            <a:prstGeom prst="ellipse">
              <a:avLst/>
            </a:prstGeom>
            <a:solidFill>
              <a:srgbClr val="030303"/>
            </a:solidFill>
            <a:ln w="30480" cap="rnd">
              <a:solidFill>
                <a:srgbClr val="03030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cxnSp>
          <p:nvCxnSpPr>
            <p:cNvPr id="21" name="c:runner 线"/>
            <p:cNvCxnSpPr/>
            <p:nvPr/>
          </p:nvCxnSpPr>
          <p:spPr>
            <a:xfrm>
              <a:off x="2546985" y="6665594"/>
              <a:ext cx="93344" cy="0"/>
            </a:xfrm>
            <a:prstGeom prst="line">
              <a:avLst/>
            </a:prstGeom>
            <a:ln w="30480" cap="rnd">
              <a:solidFill>
                <a:srgbClr val="03030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c:runner 圆"/>
            <p:cNvSpPr/>
            <p:nvPr/>
          </p:nvSpPr>
          <p:spPr>
            <a:xfrm>
              <a:off x="2682240" y="6656069"/>
              <a:ext cx="19050" cy="19050"/>
            </a:xfrm>
            <a:prstGeom prst="ellipse">
              <a:avLst/>
            </a:prstGeom>
            <a:solidFill>
              <a:srgbClr val="030303"/>
            </a:solidFill>
            <a:ln w="30480" cap="rnd">
              <a:solidFill>
                <a:srgbClr val="03030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</p:grpSp>
      <p:grpSp>
        <p:nvGrpSpPr>
          <p:cNvPr id="173" name="c:runner~2"/>
          <p:cNvGrpSpPr/>
          <p:nvPr/>
        </p:nvGrpSpPr>
        <p:grpSpPr>
          <a:xfrm>
            <a:off x="3086100" y="6271355"/>
            <a:ext cx="2438400" cy="1386745"/>
            <a:chOff x="3086100" y="6271355"/>
            <a:chExt cx="2438400" cy="1386745"/>
          </a:xfrm>
        </p:grpSpPr>
        <p:sp>
          <p:nvSpPr>
            <p:cNvPr id="23" name="c:runner~2 框"/>
            <p:cNvSpPr/>
            <p:nvPr/>
          </p:nvSpPr>
          <p:spPr>
            <a:xfrm>
              <a:off x="3086100" y="6362700"/>
              <a:ext cx="2438400" cy="1295400"/>
            </a:xfrm>
            <a:prstGeom prst="roundRect">
              <a:avLst>
                <a:gd name="adj" fmla="val 4411"/>
              </a:avLst>
            </a:prstGeom>
            <a:solidFill>
              <a:srgbClr val="FFFFFF"/>
            </a:solidFill>
            <a:ln w="19050" cap="flat">
              <a:solidFill>
                <a:srgbClr val="03030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24" name="c:runner~2 文字"/>
            <p:cNvSpPr txBox="1"/>
            <p:nvPr/>
          </p:nvSpPr>
          <p:spPr>
            <a:xfrm>
              <a:off x="3200400" y="6271355"/>
              <a:ext cx="156972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950" b="1" i="0">
                  <a:solidFill>
                    <a:srgbClr val="030303"/>
                  </a:solidFill>
                  <a:latin typeface="Helvetica Neue"/>
                  <a:ea typeface="Source Han Sans CN"/>
                </a:rPr>
                <a:t>Runner 2</a:t>
              </a:r>
            </a:p>
          </p:txBody>
        </p:sp>
        <p:sp>
          <p:nvSpPr>
            <p:cNvPr id="25" name="c:runner~2 框"/>
            <p:cNvSpPr/>
            <p:nvPr/>
          </p:nvSpPr>
          <p:spPr>
            <a:xfrm>
              <a:off x="5153025" y="6448425"/>
              <a:ext cx="209550" cy="247650"/>
            </a:xfrm>
            <a:prstGeom prst="roundRect">
              <a:avLst>
                <a:gd name="adj" fmla="val 7272"/>
              </a:avLst>
            </a:prstGeom>
            <a:noFill/>
            <a:ln w="30480" cap="rnd">
              <a:solidFill>
                <a:srgbClr val="03030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cxnSp>
          <p:nvCxnSpPr>
            <p:cNvPr id="26" name="c:runner~2 线"/>
            <p:cNvCxnSpPr/>
            <p:nvPr/>
          </p:nvCxnSpPr>
          <p:spPr>
            <a:xfrm>
              <a:off x="5153025" y="6510337"/>
              <a:ext cx="209550" cy="0"/>
            </a:xfrm>
            <a:prstGeom prst="line">
              <a:avLst/>
            </a:prstGeom>
            <a:ln w="30480" cap="rnd">
              <a:solidFill>
                <a:srgbClr val="03030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:runner~2 线"/>
            <p:cNvCxnSpPr/>
            <p:nvPr/>
          </p:nvCxnSpPr>
          <p:spPr>
            <a:xfrm>
              <a:off x="5153025" y="6572250"/>
              <a:ext cx="209550" cy="0"/>
            </a:xfrm>
            <a:prstGeom prst="line">
              <a:avLst/>
            </a:prstGeom>
            <a:ln w="30480" cap="rnd">
              <a:solidFill>
                <a:srgbClr val="03030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:runner~2 线"/>
            <p:cNvCxnSpPr/>
            <p:nvPr/>
          </p:nvCxnSpPr>
          <p:spPr>
            <a:xfrm>
              <a:off x="5153025" y="6634162"/>
              <a:ext cx="209550" cy="0"/>
            </a:xfrm>
            <a:prstGeom prst="line">
              <a:avLst/>
            </a:prstGeom>
            <a:ln w="30480" cap="rnd">
              <a:solidFill>
                <a:srgbClr val="03030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:runner~2 线"/>
            <p:cNvCxnSpPr/>
            <p:nvPr/>
          </p:nvCxnSpPr>
          <p:spPr>
            <a:xfrm>
              <a:off x="5175884" y="6478905"/>
              <a:ext cx="93346" cy="0"/>
            </a:xfrm>
            <a:prstGeom prst="line">
              <a:avLst/>
            </a:prstGeom>
            <a:ln w="30480" cap="rnd">
              <a:solidFill>
                <a:srgbClr val="03030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c:runner~2 圆"/>
            <p:cNvSpPr/>
            <p:nvPr/>
          </p:nvSpPr>
          <p:spPr>
            <a:xfrm>
              <a:off x="5311140" y="6469380"/>
              <a:ext cx="19050" cy="19050"/>
            </a:xfrm>
            <a:prstGeom prst="ellipse">
              <a:avLst/>
            </a:prstGeom>
            <a:solidFill>
              <a:srgbClr val="030303"/>
            </a:solidFill>
            <a:ln w="30480" cap="rnd">
              <a:solidFill>
                <a:srgbClr val="03030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cxnSp>
          <p:nvCxnSpPr>
            <p:cNvPr id="31" name="c:runner~2 线"/>
            <p:cNvCxnSpPr/>
            <p:nvPr/>
          </p:nvCxnSpPr>
          <p:spPr>
            <a:xfrm>
              <a:off x="5175884" y="6541769"/>
              <a:ext cx="93346" cy="0"/>
            </a:xfrm>
            <a:prstGeom prst="line">
              <a:avLst/>
            </a:prstGeom>
            <a:ln w="30480" cap="rnd">
              <a:solidFill>
                <a:srgbClr val="03030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c:runner~2 圆"/>
            <p:cNvSpPr/>
            <p:nvPr/>
          </p:nvSpPr>
          <p:spPr>
            <a:xfrm>
              <a:off x="5311140" y="6532244"/>
              <a:ext cx="19050" cy="19050"/>
            </a:xfrm>
            <a:prstGeom prst="ellipse">
              <a:avLst/>
            </a:prstGeom>
            <a:solidFill>
              <a:srgbClr val="030303"/>
            </a:solidFill>
            <a:ln w="30480" cap="rnd">
              <a:solidFill>
                <a:srgbClr val="03030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cxnSp>
          <p:nvCxnSpPr>
            <p:cNvPr id="33" name="c:runner~2 线"/>
            <p:cNvCxnSpPr/>
            <p:nvPr/>
          </p:nvCxnSpPr>
          <p:spPr>
            <a:xfrm>
              <a:off x="5175884" y="6602730"/>
              <a:ext cx="93346" cy="0"/>
            </a:xfrm>
            <a:prstGeom prst="line">
              <a:avLst/>
            </a:prstGeom>
            <a:ln w="30480" cap="rnd">
              <a:solidFill>
                <a:srgbClr val="03030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c:runner~2 圆"/>
            <p:cNvSpPr/>
            <p:nvPr/>
          </p:nvSpPr>
          <p:spPr>
            <a:xfrm>
              <a:off x="5311140" y="6593205"/>
              <a:ext cx="19050" cy="19050"/>
            </a:xfrm>
            <a:prstGeom prst="ellipse">
              <a:avLst/>
            </a:prstGeom>
            <a:solidFill>
              <a:srgbClr val="030303"/>
            </a:solidFill>
            <a:ln w="30480" cap="rnd">
              <a:solidFill>
                <a:srgbClr val="03030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cxnSp>
          <p:nvCxnSpPr>
            <p:cNvPr id="35" name="c:runner~2 线"/>
            <p:cNvCxnSpPr/>
            <p:nvPr/>
          </p:nvCxnSpPr>
          <p:spPr>
            <a:xfrm>
              <a:off x="5175884" y="6665594"/>
              <a:ext cx="93346" cy="0"/>
            </a:xfrm>
            <a:prstGeom prst="line">
              <a:avLst/>
            </a:prstGeom>
            <a:ln w="30480" cap="rnd">
              <a:solidFill>
                <a:srgbClr val="03030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:runner~2 圆"/>
            <p:cNvSpPr/>
            <p:nvPr/>
          </p:nvSpPr>
          <p:spPr>
            <a:xfrm>
              <a:off x="5311140" y="6656069"/>
              <a:ext cx="19050" cy="19050"/>
            </a:xfrm>
            <a:prstGeom prst="ellipse">
              <a:avLst/>
            </a:prstGeom>
            <a:solidFill>
              <a:srgbClr val="030303"/>
            </a:solidFill>
            <a:ln w="30480" cap="rnd">
              <a:solidFill>
                <a:srgbClr val="03030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</p:grpSp>
      <p:grpSp>
        <p:nvGrpSpPr>
          <p:cNvPr id="174" name="c:runner~4"/>
          <p:cNvGrpSpPr/>
          <p:nvPr/>
        </p:nvGrpSpPr>
        <p:grpSpPr>
          <a:xfrm>
            <a:off x="5943600" y="6271355"/>
            <a:ext cx="2438400" cy="1386745"/>
            <a:chOff x="5943600" y="6271355"/>
            <a:chExt cx="2438400" cy="1386745"/>
          </a:xfrm>
        </p:grpSpPr>
        <p:sp>
          <p:nvSpPr>
            <p:cNvPr id="37" name="c:runner~4 框"/>
            <p:cNvSpPr/>
            <p:nvPr/>
          </p:nvSpPr>
          <p:spPr>
            <a:xfrm>
              <a:off x="5943600" y="6362700"/>
              <a:ext cx="2438400" cy="1295400"/>
            </a:xfrm>
            <a:prstGeom prst="roundRect">
              <a:avLst>
                <a:gd name="adj" fmla="val 4411"/>
              </a:avLst>
            </a:prstGeom>
            <a:solidFill>
              <a:srgbClr val="FFFFFF"/>
            </a:solidFill>
            <a:ln w="19050" cap="flat">
              <a:solidFill>
                <a:srgbClr val="03030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38" name="c:runner~4 文字"/>
            <p:cNvSpPr txBox="1"/>
            <p:nvPr/>
          </p:nvSpPr>
          <p:spPr>
            <a:xfrm>
              <a:off x="6057900" y="6271355"/>
              <a:ext cx="156972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950" b="1" i="0">
                  <a:solidFill>
                    <a:srgbClr val="030303"/>
                  </a:solidFill>
                  <a:latin typeface="Helvetica Neue"/>
                  <a:ea typeface="Source Han Sans CN"/>
                </a:rPr>
                <a:t>Runner 4</a:t>
              </a:r>
            </a:p>
          </p:txBody>
        </p:sp>
        <p:sp>
          <p:nvSpPr>
            <p:cNvPr id="39" name="c:runner~4 框"/>
            <p:cNvSpPr/>
            <p:nvPr/>
          </p:nvSpPr>
          <p:spPr>
            <a:xfrm>
              <a:off x="8010525" y="6448425"/>
              <a:ext cx="209550" cy="247650"/>
            </a:xfrm>
            <a:prstGeom prst="roundRect">
              <a:avLst>
                <a:gd name="adj" fmla="val 7272"/>
              </a:avLst>
            </a:prstGeom>
            <a:noFill/>
            <a:ln w="30480" cap="rnd">
              <a:solidFill>
                <a:srgbClr val="03030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cxnSp>
          <p:nvCxnSpPr>
            <p:cNvPr id="40" name="c:runner~4 线"/>
            <p:cNvCxnSpPr/>
            <p:nvPr/>
          </p:nvCxnSpPr>
          <p:spPr>
            <a:xfrm>
              <a:off x="8010525" y="6510337"/>
              <a:ext cx="209550" cy="0"/>
            </a:xfrm>
            <a:prstGeom prst="line">
              <a:avLst/>
            </a:prstGeom>
            <a:ln w="30480" cap="rnd">
              <a:solidFill>
                <a:srgbClr val="03030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:runner~4 线"/>
            <p:cNvCxnSpPr/>
            <p:nvPr/>
          </p:nvCxnSpPr>
          <p:spPr>
            <a:xfrm>
              <a:off x="8010525" y="6572250"/>
              <a:ext cx="209550" cy="0"/>
            </a:xfrm>
            <a:prstGeom prst="line">
              <a:avLst/>
            </a:prstGeom>
            <a:ln w="30480" cap="rnd">
              <a:solidFill>
                <a:srgbClr val="03030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:runner~4 线"/>
            <p:cNvCxnSpPr/>
            <p:nvPr/>
          </p:nvCxnSpPr>
          <p:spPr>
            <a:xfrm>
              <a:off x="8010525" y="6634162"/>
              <a:ext cx="209550" cy="0"/>
            </a:xfrm>
            <a:prstGeom prst="line">
              <a:avLst/>
            </a:prstGeom>
            <a:ln w="30480" cap="rnd">
              <a:solidFill>
                <a:srgbClr val="03030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:runner~4 线"/>
            <p:cNvCxnSpPr/>
            <p:nvPr/>
          </p:nvCxnSpPr>
          <p:spPr>
            <a:xfrm>
              <a:off x="8033384" y="6478905"/>
              <a:ext cx="93346" cy="0"/>
            </a:xfrm>
            <a:prstGeom prst="line">
              <a:avLst/>
            </a:prstGeom>
            <a:ln w="30480" cap="rnd">
              <a:solidFill>
                <a:srgbClr val="03030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c:runner~4 圆"/>
            <p:cNvSpPr/>
            <p:nvPr/>
          </p:nvSpPr>
          <p:spPr>
            <a:xfrm>
              <a:off x="8168640" y="6469380"/>
              <a:ext cx="19050" cy="19050"/>
            </a:xfrm>
            <a:prstGeom prst="ellipse">
              <a:avLst/>
            </a:prstGeom>
            <a:solidFill>
              <a:srgbClr val="030303"/>
            </a:solidFill>
            <a:ln w="30480" cap="rnd">
              <a:solidFill>
                <a:srgbClr val="03030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cxnSp>
          <p:nvCxnSpPr>
            <p:cNvPr id="45" name="c:runner~4 线"/>
            <p:cNvCxnSpPr/>
            <p:nvPr/>
          </p:nvCxnSpPr>
          <p:spPr>
            <a:xfrm>
              <a:off x="8033384" y="6541769"/>
              <a:ext cx="93346" cy="0"/>
            </a:xfrm>
            <a:prstGeom prst="line">
              <a:avLst/>
            </a:prstGeom>
            <a:ln w="30480" cap="rnd">
              <a:solidFill>
                <a:srgbClr val="03030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c:runner~4 圆"/>
            <p:cNvSpPr/>
            <p:nvPr/>
          </p:nvSpPr>
          <p:spPr>
            <a:xfrm>
              <a:off x="8168640" y="6532244"/>
              <a:ext cx="19050" cy="19050"/>
            </a:xfrm>
            <a:prstGeom prst="ellipse">
              <a:avLst/>
            </a:prstGeom>
            <a:solidFill>
              <a:srgbClr val="030303"/>
            </a:solidFill>
            <a:ln w="30480" cap="rnd">
              <a:solidFill>
                <a:srgbClr val="03030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cxnSp>
          <p:nvCxnSpPr>
            <p:cNvPr id="47" name="c:runner~4 线"/>
            <p:cNvCxnSpPr/>
            <p:nvPr/>
          </p:nvCxnSpPr>
          <p:spPr>
            <a:xfrm>
              <a:off x="8033384" y="6602730"/>
              <a:ext cx="93346" cy="0"/>
            </a:xfrm>
            <a:prstGeom prst="line">
              <a:avLst/>
            </a:prstGeom>
            <a:ln w="30480" cap="rnd">
              <a:solidFill>
                <a:srgbClr val="03030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c:runner~4 圆"/>
            <p:cNvSpPr/>
            <p:nvPr/>
          </p:nvSpPr>
          <p:spPr>
            <a:xfrm>
              <a:off x="8168640" y="6593205"/>
              <a:ext cx="19050" cy="19050"/>
            </a:xfrm>
            <a:prstGeom prst="ellipse">
              <a:avLst/>
            </a:prstGeom>
            <a:solidFill>
              <a:srgbClr val="030303"/>
            </a:solidFill>
            <a:ln w="30480" cap="rnd">
              <a:solidFill>
                <a:srgbClr val="03030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cxnSp>
          <p:nvCxnSpPr>
            <p:cNvPr id="49" name="c:runner~4 线"/>
            <p:cNvCxnSpPr/>
            <p:nvPr/>
          </p:nvCxnSpPr>
          <p:spPr>
            <a:xfrm>
              <a:off x="8033384" y="6665594"/>
              <a:ext cx="93346" cy="0"/>
            </a:xfrm>
            <a:prstGeom prst="line">
              <a:avLst/>
            </a:prstGeom>
            <a:ln w="30480" cap="rnd">
              <a:solidFill>
                <a:srgbClr val="030303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c:runner~4 圆"/>
            <p:cNvSpPr/>
            <p:nvPr/>
          </p:nvSpPr>
          <p:spPr>
            <a:xfrm>
              <a:off x="8168640" y="6656069"/>
              <a:ext cx="19050" cy="19050"/>
            </a:xfrm>
            <a:prstGeom prst="ellipse">
              <a:avLst/>
            </a:prstGeom>
            <a:solidFill>
              <a:srgbClr val="030303"/>
            </a:solidFill>
            <a:ln w="30480" cap="rnd">
              <a:solidFill>
                <a:srgbClr val="03030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</p:grpSp>
      <p:grpSp>
        <p:nvGrpSpPr>
          <p:cNvPr id="175" name="c:runner~ellipsis"/>
          <p:cNvGrpSpPr/>
          <p:nvPr/>
        </p:nvGrpSpPr>
        <p:grpSpPr>
          <a:xfrm>
            <a:off x="5581650" y="6979920"/>
            <a:ext cx="304800" cy="60960"/>
            <a:chOff x="5581650" y="6979920"/>
            <a:chExt cx="304800" cy="60960"/>
          </a:xfrm>
        </p:grpSpPr>
        <p:sp>
          <p:nvSpPr>
            <p:cNvPr id="51" name="c:runner~ellipsis 圆"/>
            <p:cNvSpPr/>
            <p:nvPr/>
          </p:nvSpPr>
          <p:spPr>
            <a:xfrm>
              <a:off x="5581650" y="6979920"/>
              <a:ext cx="60960" cy="60960"/>
            </a:xfrm>
            <a:prstGeom prst="ellipse">
              <a:avLst/>
            </a:prstGeom>
            <a:solidFill>
              <a:srgbClr val="03030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52" name="c:runner~ellipsis 圆"/>
            <p:cNvSpPr/>
            <p:nvPr/>
          </p:nvSpPr>
          <p:spPr>
            <a:xfrm>
              <a:off x="5703570" y="6979920"/>
              <a:ext cx="60960" cy="60960"/>
            </a:xfrm>
            <a:prstGeom prst="ellipse">
              <a:avLst/>
            </a:prstGeom>
            <a:solidFill>
              <a:srgbClr val="03030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53" name="c:runner~ellipsis 圆"/>
            <p:cNvSpPr/>
            <p:nvPr/>
          </p:nvSpPr>
          <p:spPr>
            <a:xfrm>
              <a:off x="5825490" y="6979920"/>
              <a:ext cx="60960" cy="60960"/>
            </a:xfrm>
            <a:prstGeom prst="ellipse">
              <a:avLst/>
            </a:prstGeom>
            <a:solidFill>
              <a:srgbClr val="03030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</p:grpSp>
      <p:grpSp>
        <p:nvGrpSpPr>
          <p:cNvPr id="176" name="e:e1-push developers→job-router"/>
          <p:cNvGrpSpPr/>
          <p:nvPr/>
        </p:nvGrpSpPr>
        <p:grpSpPr>
          <a:xfrm>
            <a:off x="3714750" y="922401"/>
            <a:ext cx="3524250" cy="502920"/>
            <a:chOff x="3714750" y="922401"/>
            <a:chExt cx="3524250" cy="502920"/>
          </a:xfrm>
        </p:grpSpPr>
        <p:cxnSp>
          <p:nvCxnSpPr>
            <p:cNvPr id="54" name="e:e1-push 线"/>
            <p:cNvCxnSpPr/>
            <p:nvPr/>
          </p:nvCxnSpPr>
          <p:spPr>
            <a:xfrm flipH="1">
              <a:off x="3714750" y="990600"/>
              <a:ext cx="3524250" cy="0"/>
            </a:xfrm>
            <a:prstGeom prst="line">
              <a:avLst/>
            </a:prstGeom>
            <a:ln w="30480" cap="flat">
              <a:solidFill>
                <a:srgbClr val="030303"/>
              </a:solidFill>
              <a:miter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e:e1-push 文字"/>
            <p:cNvSpPr txBox="1"/>
            <p:nvPr/>
          </p:nvSpPr>
          <p:spPr>
            <a:xfrm>
              <a:off x="4979670" y="922401"/>
              <a:ext cx="97536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0" i="0">
                  <a:solidFill>
                    <a:srgbClr val="030303"/>
                  </a:solidFill>
                  <a:latin typeface="Helvetica Neue"/>
                  <a:ea typeface="Source Han Sans CN"/>
                </a:rPr>
                <a:t>Push</a:t>
              </a:r>
            </a:p>
          </p:txBody>
        </p:sp>
      </p:grpSp>
      <p:grpSp>
        <p:nvGrpSpPr>
          <p:cNvPr id="177" name="e:e2-dispatch job-router→graph-merger"/>
          <p:cNvGrpSpPr/>
          <p:nvPr/>
        </p:nvGrpSpPr>
        <p:grpSpPr>
          <a:xfrm>
            <a:off x="-38100" y="1295400"/>
            <a:ext cx="2514600" cy="1047750"/>
            <a:chOff x="-38100" y="1295400"/>
            <a:chExt cx="2514600" cy="1047750"/>
          </a:xfrm>
        </p:grpSpPr>
        <p:cxnSp>
          <p:nvCxnSpPr>
            <p:cNvPr id="56" name="e:e2-dispatch 线"/>
            <p:cNvCxnSpPr/>
            <p:nvPr/>
          </p:nvCxnSpPr>
          <p:spPr>
            <a:xfrm>
              <a:off x="2476500" y="1295400"/>
              <a:ext cx="0" cy="1047750"/>
            </a:xfrm>
            <a:prstGeom prst="line">
              <a:avLst/>
            </a:prstGeom>
            <a:ln w="30480" cap="flat">
              <a:solidFill>
                <a:srgbClr val="030303"/>
              </a:solidFill>
              <a:miter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e:e2-dispatch 文字"/>
            <p:cNvSpPr txBox="1"/>
            <p:nvPr/>
          </p:nvSpPr>
          <p:spPr>
            <a:xfrm>
              <a:off x="-38100" y="1398651"/>
              <a:ext cx="234315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800" b="0" i="0">
                  <a:solidFill>
                    <a:srgbClr val="030303"/>
                  </a:solidFill>
                  <a:latin typeface="Helvetica Neue"/>
                  <a:ea typeface="Source Han Sans CN"/>
                </a:rPr>
                <a:t>Same-commit jobs</a:t>
              </a:r>
            </a:p>
          </p:txBody>
        </p:sp>
      </p:grpSp>
      <p:grpSp>
        <p:nvGrpSpPr>
          <p:cNvPr id="178" name="e:e-pool-control job-router→build-pool"/>
          <p:cNvGrpSpPr/>
          <p:nvPr/>
        </p:nvGrpSpPr>
        <p:grpSpPr>
          <a:xfrm>
            <a:off x="3543300" y="1295400"/>
            <a:ext cx="2564129" cy="606171"/>
            <a:chOff x="3543300" y="1295400"/>
            <a:chExt cx="2564129" cy="606171"/>
          </a:xfrm>
        </p:grpSpPr>
        <p:cxnSp>
          <p:nvCxnSpPr>
            <p:cNvPr id="58" name="e:e-pool-control 线"/>
            <p:cNvCxnSpPr/>
            <p:nvPr/>
          </p:nvCxnSpPr>
          <p:spPr>
            <a:xfrm>
              <a:off x="3543300" y="1295400"/>
              <a:ext cx="0" cy="586739"/>
            </a:xfrm>
            <a:prstGeom prst="line">
              <a:avLst/>
            </a:prstGeom>
            <a:ln w="30480" cap="flat">
              <a:solidFill>
                <a:srgbClr val="030303"/>
              </a:solidFill>
              <a:custDash>
                <a:ds d="312499" sp="237499"/>
              </a:custDash>
              <a:miter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e:e-pool-control 文字"/>
            <p:cNvSpPr txBox="1"/>
            <p:nvPr/>
          </p:nvSpPr>
          <p:spPr>
            <a:xfrm>
              <a:off x="3676650" y="1398651"/>
              <a:ext cx="2430779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800" b="0" i="0">
                  <a:solidFill>
                    <a:srgbClr val="030303"/>
                  </a:solidFill>
                  <a:latin typeface="Helvetica Neue"/>
                  <a:ea typeface="Source Han Sans CN"/>
                </a:rPr>
                <a:t>Reuse / create pool</a:t>
              </a:r>
            </a:p>
          </p:txBody>
        </p:sp>
      </p:grpSp>
      <p:cxnSp>
        <p:nvCxnSpPr>
          <p:cNvPr id="60" name="e:e3-merge 线"/>
          <p:cNvCxnSpPr/>
          <p:nvPr/>
        </p:nvCxnSpPr>
        <p:spPr>
          <a:xfrm>
            <a:off x="2476500" y="3200400"/>
            <a:ext cx="0" cy="666750"/>
          </a:xfrm>
          <a:prstGeom prst="line">
            <a:avLst/>
          </a:prstGeom>
          <a:ln w="30480" cap="flat">
            <a:solidFill>
              <a:srgbClr val="030303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e:e4-dedup-place 线"/>
          <p:cNvCxnSpPr/>
          <p:nvPr/>
        </p:nvCxnSpPr>
        <p:spPr>
          <a:xfrm>
            <a:off x="3352800" y="4305300"/>
            <a:ext cx="400050" cy="0"/>
          </a:xfrm>
          <a:prstGeom prst="line">
            <a:avLst/>
          </a:prstGeom>
          <a:ln w="30480" cap="flat">
            <a:solidFill>
              <a:srgbClr val="030303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e:e4-place-prefetch 线"/>
          <p:cNvCxnSpPr/>
          <p:nvPr/>
        </p:nvCxnSpPr>
        <p:spPr>
          <a:xfrm>
            <a:off x="5943600" y="4305300"/>
            <a:ext cx="400050" cy="0"/>
          </a:xfrm>
          <a:prstGeom prst="line">
            <a:avLst/>
          </a:prstGeom>
          <a:ln w="30480" cap="flat">
            <a:solidFill>
              <a:srgbClr val="030303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9" name="e:e5-schedule cache-prefetch→sandbox-executor"/>
          <p:cNvGrpSpPr/>
          <p:nvPr/>
        </p:nvGrpSpPr>
        <p:grpSpPr>
          <a:xfrm>
            <a:off x="1866900" y="4724400"/>
            <a:ext cx="5486400" cy="2038350"/>
            <a:chOff x="1866900" y="4724400"/>
            <a:chExt cx="5486400" cy="2038350"/>
          </a:xfrm>
        </p:grpSpPr>
        <p:sp>
          <p:nvSpPr>
            <p:cNvPr id="63" name="e:e5-schedule 线"/>
            <p:cNvSpPr/>
            <p:nvPr/>
          </p:nvSpPr>
          <p:spPr>
            <a:xfrm>
              <a:off x="1866900" y="4724400"/>
              <a:ext cx="5486400" cy="2038350"/>
            </a:xfrm>
            <a:custGeom>
              <a:avLst/>
              <a:gdLst/>
              <a:ahLst/>
              <a:cxnLst/>
              <a:rect l="0" t="0" r="r" b="b"/>
              <a:pathLst>
                <a:path w="144000" h="53500" fill="none">
                  <a:moveTo>
                    <a:pt x="144000" y="0"/>
                  </a:moveTo>
                  <a:lnTo>
                    <a:pt x="144000" y="38000"/>
                  </a:lnTo>
                  <a:lnTo>
                    <a:pt x="0" y="38000"/>
                  </a:lnTo>
                  <a:lnTo>
                    <a:pt x="0" y="53500"/>
                  </a:lnTo>
                </a:path>
              </a:pathLst>
            </a:custGeom>
            <a:noFill/>
            <a:ln w="30480" cap="flat">
              <a:solidFill>
                <a:srgbClr val="030303"/>
              </a:solidFill>
              <a:miter/>
              <a:tailEnd type="triangle" w="med" len="me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e:e5-schedule 线"/>
            <p:cNvSpPr/>
            <p:nvPr/>
          </p:nvSpPr>
          <p:spPr>
            <a:xfrm>
              <a:off x="4495800" y="4724400"/>
              <a:ext cx="2857500" cy="2038350"/>
            </a:xfrm>
            <a:custGeom>
              <a:avLst/>
              <a:gdLst/>
              <a:ahLst/>
              <a:cxnLst/>
              <a:rect l="0" t="0" r="r" b="b"/>
              <a:pathLst>
                <a:path w="75000" h="53500" fill="none">
                  <a:moveTo>
                    <a:pt x="75000" y="0"/>
                  </a:moveTo>
                  <a:lnTo>
                    <a:pt x="75000" y="38000"/>
                  </a:lnTo>
                  <a:lnTo>
                    <a:pt x="0" y="38000"/>
                  </a:lnTo>
                  <a:lnTo>
                    <a:pt x="0" y="53500"/>
                  </a:lnTo>
                </a:path>
              </a:pathLst>
            </a:custGeom>
            <a:noFill/>
            <a:ln w="30480" cap="flat">
              <a:solidFill>
                <a:srgbClr val="030303"/>
              </a:solidFill>
              <a:miter/>
              <a:tailEnd type="triangle" w="med" len="me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5" name="e:e5-schedule 线"/>
            <p:cNvCxnSpPr/>
            <p:nvPr/>
          </p:nvCxnSpPr>
          <p:spPr>
            <a:xfrm>
              <a:off x="7353300" y="4724400"/>
              <a:ext cx="0" cy="2038350"/>
            </a:xfrm>
            <a:prstGeom prst="line">
              <a:avLst/>
            </a:prstGeom>
            <a:ln w="30480" cap="flat">
              <a:solidFill>
                <a:srgbClr val="030303"/>
              </a:solidFill>
              <a:miter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6" name="e:e-durations 线"/>
          <p:cNvCxnSpPr/>
          <p:nvPr/>
        </p:nvCxnSpPr>
        <p:spPr>
          <a:xfrm>
            <a:off x="4857750" y="3200400"/>
            <a:ext cx="0" cy="666750"/>
          </a:xfrm>
          <a:prstGeom prst="line">
            <a:avLst/>
          </a:prstGeom>
          <a:ln w="30480" cap="flat">
            <a:solidFill>
              <a:srgbClr val="030303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e:e-inputs 线"/>
          <p:cNvCxnSpPr/>
          <p:nvPr/>
        </p:nvCxnSpPr>
        <p:spPr>
          <a:xfrm>
            <a:off x="7353300" y="3200400"/>
            <a:ext cx="0" cy="666750"/>
          </a:xfrm>
          <a:prstGeom prst="line">
            <a:avLst/>
          </a:prstGeom>
          <a:ln w="30480" cap="flat">
            <a:solidFill>
              <a:srgbClr val="030303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0" name="n:job-router Job Router"/>
          <p:cNvGrpSpPr/>
          <p:nvPr/>
        </p:nvGrpSpPr>
        <p:grpSpPr>
          <a:xfrm>
            <a:off x="1257300" y="685800"/>
            <a:ext cx="2438400" cy="609600"/>
            <a:chOff x="1257300" y="685800"/>
            <a:chExt cx="2438400" cy="609600"/>
          </a:xfrm>
        </p:grpSpPr>
        <p:sp>
          <p:nvSpPr>
            <p:cNvPr id="68" name="n:job-router 框"/>
            <p:cNvSpPr/>
            <p:nvPr/>
          </p:nvSpPr>
          <p:spPr>
            <a:xfrm>
              <a:off x="1257300" y="685800"/>
              <a:ext cx="2438400" cy="609600"/>
            </a:xfrm>
            <a:prstGeom prst="roundRect">
              <a:avLst>
                <a:gd name="adj" fmla="val 9375"/>
              </a:avLst>
            </a:prstGeom>
            <a:solidFill>
              <a:srgbClr val="FFFFFF"/>
            </a:solidFill>
            <a:ln w="28575" cap="flat">
              <a:solidFill>
                <a:srgbClr val="03030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69" name="n:job-router 文字"/>
            <p:cNvSpPr txBox="1"/>
            <p:nvPr/>
          </p:nvSpPr>
          <p:spPr>
            <a:xfrm>
              <a:off x="1573530" y="689705"/>
              <a:ext cx="1805939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1" i="0">
                  <a:solidFill>
                    <a:srgbClr val="030303"/>
                  </a:solidFill>
                  <a:latin typeface="Helvetica Neue"/>
                  <a:ea typeface="Source Han Sans CN"/>
                </a:rPr>
                <a:t>Job Router</a:t>
              </a:r>
            </a:p>
          </p:txBody>
        </p:sp>
      </p:grpSp>
      <p:grpSp>
        <p:nvGrpSpPr>
          <p:cNvPr id="181" name="n:developers Developers"/>
          <p:cNvGrpSpPr/>
          <p:nvPr/>
        </p:nvGrpSpPr>
        <p:grpSpPr>
          <a:xfrm>
            <a:off x="7126605" y="285750"/>
            <a:ext cx="1748789" cy="1046892"/>
            <a:chOff x="7126605" y="285750"/>
            <a:chExt cx="1748789" cy="1046892"/>
          </a:xfrm>
        </p:grpSpPr>
        <p:sp>
          <p:nvSpPr>
            <p:cNvPr id="70" name="n:developers 框"/>
            <p:cNvSpPr/>
            <p:nvPr/>
          </p:nvSpPr>
          <p:spPr>
            <a:xfrm>
              <a:off x="7239000" y="285750"/>
              <a:ext cx="1524000" cy="1009650"/>
            </a:xfrm>
            <a:prstGeom prst="roundRect">
              <a:avLst>
                <a:gd name="adj" fmla="val 5660"/>
              </a:avLst>
            </a:prstGeom>
            <a:solidFill>
              <a:srgbClr val="FFFFFF"/>
            </a:solidFill>
            <a:ln w="28575" cap="flat">
              <a:solidFill>
                <a:srgbClr val="03030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71" name="n:developers 线"/>
            <p:cNvSpPr/>
            <p:nvPr/>
          </p:nvSpPr>
          <p:spPr>
            <a:xfrm>
              <a:off x="7834255" y="368644"/>
              <a:ext cx="333533" cy="406888"/>
            </a:xfrm>
            <a:custGeom>
              <a:avLst/>
              <a:gdLst/>
              <a:ahLst/>
              <a:cxnLst/>
              <a:rect l="0" t="0" r="r" b="b"/>
              <a:pathLst>
                <a:path w="8754" h="10679">
                  <a:moveTo>
                    <a:pt x="6092" y="6116"/>
                  </a:moveTo>
                  <a:cubicBezTo>
                    <a:pt x="6864" y="6403"/>
                    <a:pt x="7457" y="6711"/>
                    <a:pt x="7848" y="7042"/>
                  </a:cubicBezTo>
                  <a:cubicBezTo>
                    <a:pt x="8067" y="7218"/>
                    <a:pt x="8200" y="7481"/>
                    <a:pt x="8211" y="7762"/>
                  </a:cubicBezTo>
                  <a:lnTo>
                    <a:pt x="8451" y="9683"/>
                  </a:lnTo>
                  <a:cubicBezTo>
                    <a:pt x="8471" y="9832"/>
                    <a:pt x="8406" y="9979"/>
                    <a:pt x="8284" y="10065"/>
                  </a:cubicBezTo>
                  <a:cubicBezTo>
                    <a:pt x="8089" y="10193"/>
                    <a:pt x="7881" y="10300"/>
                    <a:pt x="7663" y="10384"/>
                  </a:cubicBezTo>
                  <a:lnTo>
                    <a:pt x="7663" y="10679"/>
                  </a:lnTo>
                  <a:cubicBezTo>
                    <a:pt x="7935" y="10581"/>
                    <a:pt x="8195" y="10450"/>
                    <a:pt x="8437" y="10291"/>
                  </a:cubicBezTo>
                  <a:cubicBezTo>
                    <a:pt x="8644" y="10147"/>
                    <a:pt x="8754" y="9900"/>
                    <a:pt x="8722" y="9650"/>
                  </a:cubicBezTo>
                  <a:lnTo>
                    <a:pt x="8485" y="7749"/>
                  </a:lnTo>
                  <a:cubicBezTo>
                    <a:pt x="8468" y="7393"/>
                    <a:pt x="8301" y="7060"/>
                    <a:pt x="8026" y="6833"/>
                  </a:cubicBezTo>
                  <a:cubicBezTo>
                    <a:pt x="7658" y="6536"/>
                    <a:pt x="7250" y="6293"/>
                    <a:pt x="6813" y="6111"/>
                  </a:cubicBezTo>
                  <a:cubicBezTo>
                    <a:pt x="6817" y="5732"/>
                    <a:pt x="6838" y="3518"/>
                    <a:pt x="6842" y="2640"/>
                  </a:cubicBezTo>
                  <a:cubicBezTo>
                    <a:pt x="6846" y="2406"/>
                    <a:pt x="6819" y="2173"/>
                    <a:pt x="6760" y="1946"/>
                  </a:cubicBezTo>
                  <a:cubicBezTo>
                    <a:pt x="6572" y="1251"/>
                    <a:pt x="6097" y="669"/>
                    <a:pt x="5453" y="346"/>
                  </a:cubicBezTo>
                  <a:cubicBezTo>
                    <a:pt x="5348" y="294"/>
                    <a:pt x="5223" y="305"/>
                    <a:pt x="5128" y="373"/>
                  </a:cubicBezTo>
                  <a:lnTo>
                    <a:pt x="5113" y="385"/>
                  </a:lnTo>
                  <a:lnTo>
                    <a:pt x="5052" y="300"/>
                  </a:lnTo>
                  <a:cubicBezTo>
                    <a:pt x="4989" y="209"/>
                    <a:pt x="4892" y="146"/>
                    <a:pt x="4782" y="127"/>
                  </a:cubicBezTo>
                  <a:cubicBezTo>
                    <a:pt x="4061" y="0"/>
                    <a:pt x="3320" y="204"/>
                    <a:pt x="2766" y="683"/>
                  </a:cubicBezTo>
                  <a:cubicBezTo>
                    <a:pt x="2215" y="1168"/>
                    <a:pt x="1905" y="1871"/>
                    <a:pt x="1919" y="2605"/>
                  </a:cubicBezTo>
                  <a:lnTo>
                    <a:pt x="1941" y="6111"/>
                  </a:lnTo>
                  <a:cubicBezTo>
                    <a:pt x="1504" y="6293"/>
                    <a:pt x="1096" y="6536"/>
                    <a:pt x="728" y="6834"/>
                  </a:cubicBezTo>
                  <a:cubicBezTo>
                    <a:pt x="452" y="7061"/>
                    <a:pt x="285" y="7394"/>
                    <a:pt x="269" y="7750"/>
                  </a:cubicBezTo>
                  <a:lnTo>
                    <a:pt x="31" y="9652"/>
                  </a:lnTo>
                  <a:cubicBezTo>
                    <a:pt x="0" y="9901"/>
                    <a:pt x="110" y="10148"/>
                    <a:pt x="317" y="10291"/>
                  </a:cubicBezTo>
                  <a:cubicBezTo>
                    <a:pt x="558" y="10450"/>
                    <a:pt x="818" y="10581"/>
                    <a:pt x="1090" y="10679"/>
                  </a:cubicBezTo>
                  <a:lnTo>
                    <a:pt x="1090" y="10384"/>
                  </a:lnTo>
                  <a:cubicBezTo>
                    <a:pt x="872" y="10300"/>
                    <a:pt x="665" y="10193"/>
                    <a:pt x="471" y="10065"/>
                  </a:cubicBezTo>
                  <a:cubicBezTo>
                    <a:pt x="348" y="9979"/>
                    <a:pt x="284" y="9832"/>
                    <a:pt x="303" y="9684"/>
                  </a:cubicBezTo>
                  <a:lnTo>
                    <a:pt x="542" y="7776"/>
                  </a:lnTo>
                  <a:lnTo>
                    <a:pt x="543" y="7763"/>
                  </a:lnTo>
                  <a:cubicBezTo>
                    <a:pt x="554" y="7482"/>
                    <a:pt x="686" y="7219"/>
                    <a:pt x="905" y="7043"/>
                  </a:cubicBezTo>
                  <a:cubicBezTo>
                    <a:pt x="1302" y="6705"/>
                    <a:pt x="1868" y="6407"/>
                    <a:pt x="2660" y="6116"/>
                  </a:cubicBezTo>
                  <a:cubicBezTo>
                    <a:pt x="3031" y="6371"/>
                    <a:pt x="3678" y="6527"/>
                    <a:pt x="4376" y="6527"/>
                  </a:cubicBezTo>
                  <a:cubicBezTo>
                    <a:pt x="5075" y="6527"/>
                    <a:pt x="5722" y="6371"/>
                    <a:pt x="6092" y="6116"/>
                  </a:cubicBezTo>
                  <a:close/>
                  <a:moveTo>
                    <a:pt x="2547" y="5867"/>
                  </a:moveTo>
                  <a:cubicBezTo>
                    <a:pt x="2431" y="5909"/>
                    <a:pt x="2320" y="5952"/>
                    <a:pt x="2215" y="5995"/>
                  </a:cubicBezTo>
                  <a:lnTo>
                    <a:pt x="2193" y="2603"/>
                  </a:lnTo>
                  <a:cubicBezTo>
                    <a:pt x="2179" y="1950"/>
                    <a:pt x="2454" y="1324"/>
                    <a:pt x="2944" y="891"/>
                  </a:cubicBezTo>
                  <a:cubicBezTo>
                    <a:pt x="3436" y="466"/>
                    <a:pt x="4093" y="284"/>
                    <a:pt x="4734" y="396"/>
                  </a:cubicBezTo>
                  <a:cubicBezTo>
                    <a:pt x="4773" y="404"/>
                    <a:pt x="4807" y="427"/>
                    <a:pt x="4829" y="460"/>
                  </a:cubicBezTo>
                  <a:lnTo>
                    <a:pt x="4969" y="655"/>
                  </a:lnTo>
                  <a:cubicBezTo>
                    <a:pt x="5013" y="717"/>
                    <a:pt x="5098" y="731"/>
                    <a:pt x="5160" y="687"/>
                  </a:cubicBezTo>
                  <a:lnTo>
                    <a:pt x="5287" y="597"/>
                  </a:lnTo>
                  <a:cubicBezTo>
                    <a:pt x="5299" y="588"/>
                    <a:pt x="5316" y="585"/>
                    <a:pt x="5330" y="591"/>
                  </a:cubicBezTo>
                  <a:cubicBezTo>
                    <a:pt x="5904" y="880"/>
                    <a:pt x="6328" y="1399"/>
                    <a:pt x="6495" y="2019"/>
                  </a:cubicBezTo>
                  <a:cubicBezTo>
                    <a:pt x="6548" y="2221"/>
                    <a:pt x="6572" y="2429"/>
                    <a:pt x="6567" y="2638"/>
                  </a:cubicBezTo>
                  <a:cubicBezTo>
                    <a:pt x="6564" y="3451"/>
                    <a:pt x="6545" y="5409"/>
                    <a:pt x="6540" y="5996"/>
                  </a:cubicBezTo>
                  <a:cubicBezTo>
                    <a:pt x="6437" y="5954"/>
                    <a:pt x="6329" y="5912"/>
                    <a:pt x="6217" y="5871"/>
                  </a:cubicBezTo>
                  <a:lnTo>
                    <a:pt x="5779" y="5691"/>
                  </a:lnTo>
                  <a:cubicBezTo>
                    <a:pt x="5676" y="5649"/>
                    <a:pt x="5609" y="5549"/>
                    <a:pt x="5609" y="5438"/>
                  </a:cubicBezTo>
                  <a:lnTo>
                    <a:pt x="5609" y="4980"/>
                  </a:lnTo>
                  <a:cubicBezTo>
                    <a:pt x="6043" y="4617"/>
                    <a:pt x="6294" y="4080"/>
                    <a:pt x="6293" y="3514"/>
                  </a:cubicBezTo>
                  <a:lnTo>
                    <a:pt x="6293" y="2829"/>
                  </a:lnTo>
                  <a:cubicBezTo>
                    <a:pt x="6293" y="2602"/>
                    <a:pt x="6110" y="2418"/>
                    <a:pt x="5883" y="2418"/>
                  </a:cubicBezTo>
                  <a:lnTo>
                    <a:pt x="2870" y="2418"/>
                  </a:lnTo>
                  <a:cubicBezTo>
                    <a:pt x="2643" y="2418"/>
                    <a:pt x="2459" y="2602"/>
                    <a:pt x="2459" y="2829"/>
                  </a:cubicBezTo>
                  <a:lnTo>
                    <a:pt x="2459" y="3514"/>
                  </a:lnTo>
                  <a:cubicBezTo>
                    <a:pt x="2459" y="4079"/>
                    <a:pt x="2709" y="4616"/>
                    <a:pt x="3143" y="4979"/>
                  </a:cubicBezTo>
                  <a:lnTo>
                    <a:pt x="3143" y="5437"/>
                  </a:lnTo>
                  <a:cubicBezTo>
                    <a:pt x="3143" y="5548"/>
                    <a:pt x="3076" y="5649"/>
                    <a:pt x="2973" y="5691"/>
                  </a:cubicBezTo>
                  <a:close/>
                  <a:moveTo>
                    <a:pt x="2733" y="3514"/>
                  </a:moveTo>
                  <a:lnTo>
                    <a:pt x="2733" y="2829"/>
                  </a:lnTo>
                  <a:cubicBezTo>
                    <a:pt x="2733" y="2753"/>
                    <a:pt x="2794" y="2692"/>
                    <a:pt x="2870" y="2692"/>
                  </a:cubicBezTo>
                  <a:lnTo>
                    <a:pt x="5883" y="2692"/>
                  </a:lnTo>
                  <a:cubicBezTo>
                    <a:pt x="5958" y="2692"/>
                    <a:pt x="6020" y="2753"/>
                    <a:pt x="6020" y="2829"/>
                  </a:cubicBezTo>
                  <a:lnTo>
                    <a:pt x="6020" y="3514"/>
                  </a:lnTo>
                  <a:cubicBezTo>
                    <a:pt x="6020" y="4421"/>
                    <a:pt x="5284" y="5157"/>
                    <a:pt x="4376" y="5157"/>
                  </a:cubicBezTo>
                  <a:cubicBezTo>
                    <a:pt x="3469" y="5157"/>
                    <a:pt x="2733" y="4421"/>
                    <a:pt x="2733" y="3514"/>
                  </a:cubicBezTo>
                  <a:close/>
                  <a:moveTo>
                    <a:pt x="4376" y="6253"/>
                  </a:moveTo>
                  <a:cubicBezTo>
                    <a:pt x="3897" y="6264"/>
                    <a:pt x="3422" y="6172"/>
                    <a:pt x="2982" y="5983"/>
                  </a:cubicBezTo>
                  <a:lnTo>
                    <a:pt x="3077" y="5944"/>
                  </a:lnTo>
                  <a:cubicBezTo>
                    <a:pt x="3283" y="5860"/>
                    <a:pt x="3418" y="5660"/>
                    <a:pt x="3418" y="5437"/>
                  </a:cubicBezTo>
                  <a:lnTo>
                    <a:pt x="3418" y="5171"/>
                  </a:lnTo>
                  <a:cubicBezTo>
                    <a:pt x="4010" y="5517"/>
                    <a:pt x="4742" y="5517"/>
                    <a:pt x="5335" y="5172"/>
                  </a:cubicBezTo>
                  <a:lnTo>
                    <a:pt x="5335" y="5437"/>
                  </a:lnTo>
                  <a:cubicBezTo>
                    <a:pt x="5334" y="5660"/>
                    <a:pt x="5469" y="5860"/>
                    <a:pt x="5675" y="5944"/>
                  </a:cubicBezTo>
                  <a:lnTo>
                    <a:pt x="5770" y="5983"/>
                  </a:lnTo>
                  <a:cubicBezTo>
                    <a:pt x="5330" y="6172"/>
                    <a:pt x="4855" y="6264"/>
                    <a:pt x="4376" y="6253"/>
                  </a:cubicBezTo>
                  <a:close/>
                </a:path>
              </a:pathLst>
            </a:custGeom>
            <a:solidFill>
              <a:srgbClr val="03030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n:developers 线"/>
            <p:cNvSpPr/>
            <p:nvPr/>
          </p:nvSpPr>
          <p:spPr>
            <a:xfrm>
              <a:off x="7849677" y="648591"/>
              <a:ext cx="302619" cy="167003"/>
            </a:xfrm>
            <a:custGeom>
              <a:avLst/>
              <a:gdLst/>
              <a:ahLst/>
              <a:cxnLst/>
              <a:rect l="0" t="0" r="r" b="b"/>
              <a:pathLst>
                <a:path w="7942" h="4383">
                  <a:moveTo>
                    <a:pt x="6984" y="486"/>
                  </a:moveTo>
                  <a:cubicBezTo>
                    <a:pt x="6983" y="217"/>
                    <a:pt x="6765" y="0"/>
                    <a:pt x="6497" y="1"/>
                  </a:cubicBezTo>
                  <a:cubicBezTo>
                    <a:pt x="6496" y="1"/>
                    <a:pt x="6496" y="1"/>
                    <a:pt x="6496" y="1"/>
                  </a:cubicBezTo>
                  <a:lnTo>
                    <a:pt x="1444" y="1"/>
                  </a:lnTo>
                  <a:cubicBezTo>
                    <a:pt x="1176" y="1"/>
                    <a:pt x="959" y="218"/>
                    <a:pt x="959" y="486"/>
                  </a:cubicBezTo>
                  <a:lnTo>
                    <a:pt x="959" y="3588"/>
                  </a:lnTo>
                  <a:lnTo>
                    <a:pt x="0" y="3588"/>
                  </a:lnTo>
                  <a:lnTo>
                    <a:pt x="0" y="3899"/>
                  </a:lnTo>
                  <a:cubicBezTo>
                    <a:pt x="2" y="4166"/>
                    <a:pt x="218" y="4382"/>
                    <a:pt x="485" y="4383"/>
                  </a:cubicBezTo>
                  <a:lnTo>
                    <a:pt x="7459" y="4383"/>
                  </a:lnTo>
                  <a:cubicBezTo>
                    <a:pt x="7726" y="4381"/>
                    <a:pt x="7941" y="4165"/>
                    <a:pt x="7943" y="3898"/>
                  </a:cubicBezTo>
                  <a:lnTo>
                    <a:pt x="7943" y="3588"/>
                  </a:lnTo>
                  <a:lnTo>
                    <a:pt x="6984" y="3588"/>
                  </a:lnTo>
                  <a:close/>
                  <a:moveTo>
                    <a:pt x="7669" y="3861"/>
                  </a:moveTo>
                  <a:lnTo>
                    <a:pt x="7669" y="3898"/>
                  </a:lnTo>
                  <a:cubicBezTo>
                    <a:pt x="7668" y="4014"/>
                    <a:pt x="7575" y="4108"/>
                    <a:pt x="7459" y="4109"/>
                  </a:cubicBezTo>
                  <a:lnTo>
                    <a:pt x="486" y="4109"/>
                  </a:lnTo>
                  <a:cubicBezTo>
                    <a:pt x="369" y="4109"/>
                    <a:pt x="275" y="4015"/>
                    <a:pt x="274" y="3898"/>
                  </a:cubicBezTo>
                  <a:lnTo>
                    <a:pt x="274" y="3861"/>
                  </a:lnTo>
                  <a:lnTo>
                    <a:pt x="1232" y="3861"/>
                  </a:lnTo>
                  <a:lnTo>
                    <a:pt x="1232" y="486"/>
                  </a:lnTo>
                  <a:cubicBezTo>
                    <a:pt x="1233" y="369"/>
                    <a:pt x="1327" y="274"/>
                    <a:pt x="1444" y="275"/>
                  </a:cubicBezTo>
                  <a:lnTo>
                    <a:pt x="6500" y="275"/>
                  </a:lnTo>
                  <a:cubicBezTo>
                    <a:pt x="6616" y="275"/>
                    <a:pt x="6710" y="369"/>
                    <a:pt x="6710" y="486"/>
                  </a:cubicBezTo>
                  <a:lnTo>
                    <a:pt x="6710" y="3861"/>
                  </a:lnTo>
                  <a:close/>
                </a:path>
              </a:pathLst>
            </a:custGeom>
            <a:solidFill>
              <a:srgbClr val="03030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n:developers 线"/>
            <p:cNvSpPr/>
            <p:nvPr/>
          </p:nvSpPr>
          <p:spPr>
            <a:xfrm>
              <a:off x="7983804" y="700067"/>
              <a:ext cx="34070" cy="63085"/>
            </a:xfrm>
            <a:custGeom>
              <a:avLst/>
              <a:gdLst/>
              <a:ahLst/>
              <a:cxnLst/>
              <a:rect l="0" t="0" r="r" b="b"/>
              <a:pathLst>
                <a:path w="894" h="1655">
                  <a:moveTo>
                    <a:pt x="0" y="1550"/>
                  </a:moveTo>
                  <a:lnTo>
                    <a:pt x="253" y="1656"/>
                  </a:lnTo>
                  <a:lnTo>
                    <a:pt x="894" y="105"/>
                  </a:lnTo>
                  <a:lnTo>
                    <a:pt x="642" y="0"/>
                  </a:lnTo>
                  <a:lnTo>
                    <a:pt x="0" y="1550"/>
                  </a:lnTo>
                  <a:close/>
                </a:path>
              </a:pathLst>
            </a:custGeom>
            <a:solidFill>
              <a:srgbClr val="03030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n:developers 线"/>
            <p:cNvSpPr/>
            <p:nvPr/>
          </p:nvSpPr>
          <p:spPr>
            <a:xfrm>
              <a:off x="7937368" y="700954"/>
              <a:ext cx="36627" cy="58546"/>
            </a:xfrm>
            <a:custGeom>
              <a:avLst/>
              <a:gdLst/>
              <a:ahLst/>
              <a:cxnLst/>
              <a:rect l="0" t="0" r="r" b="b"/>
              <a:pathLst>
                <a:path w="961" h="1536">
                  <a:moveTo>
                    <a:pt x="768" y="0"/>
                  </a:moveTo>
                  <a:lnTo>
                    <a:pt x="0" y="768"/>
                  </a:lnTo>
                  <a:lnTo>
                    <a:pt x="768" y="1537"/>
                  </a:lnTo>
                  <a:lnTo>
                    <a:pt x="961" y="1344"/>
                  </a:lnTo>
                  <a:lnTo>
                    <a:pt x="388" y="768"/>
                  </a:lnTo>
                  <a:lnTo>
                    <a:pt x="961" y="193"/>
                  </a:lnTo>
                  <a:lnTo>
                    <a:pt x="768" y="0"/>
                  </a:lnTo>
                  <a:close/>
                </a:path>
              </a:pathLst>
            </a:custGeom>
            <a:solidFill>
              <a:srgbClr val="03030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n:developers 线"/>
            <p:cNvSpPr/>
            <p:nvPr/>
          </p:nvSpPr>
          <p:spPr>
            <a:xfrm>
              <a:off x="8027840" y="700954"/>
              <a:ext cx="36627" cy="58546"/>
            </a:xfrm>
            <a:custGeom>
              <a:avLst/>
              <a:gdLst/>
              <a:ahLst/>
              <a:cxnLst/>
              <a:rect l="0" t="0" r="r" b="b"/>
              <a:pathLst>
                <a:path w="961" h="1536">
                  <a:moveTo>
                    <a:pt x="0" y="193"/>
                  </a:moveTo>
                  <a:lnTo>
                    <a:pt x="574" y="768"/>
                  </a:lnTo>
                  <a:lnTo>
                    <a:pt x="0" y="1344"/>
                  </a:lnTo>
                  <a:lnTo>
                    <a:pt x="193" y="1537"/>
                  </a:lnTo>
                  <a:lnTo>
                    <a:pt x="961" y="768"/>
                  </a:lnTo>
                  <a:lnTo>
                    <a:pt x="193" y="0"/>
                  </a:lnTo>
                  <a:lnTo>
                    <a:pt x="0" y="193"/>
                  </a:lnTo>
                  <a:close/>
                </a:path>
              </a:pathLst>
            </a:custGeom>
            <a:solidFill>
              <a:srgbClr val="03030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n:developers 文字"/>
            <p:cNvSpPr txBox="1"/>
            <p:nvPr/>
          </p:nvSpPr>
          <p:spPr>
            <a:xfrm>
              <a:off x="7126605" y="787812"/>
              <a:ext cx="1748789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030303"/>
                  </a:solidFill>
                  <a:latin typeface="Helvetica Neue"/>
                  <a:ea typeface="Source Han Sans CN"/>
                </a:rPr>
                <a:t>Developers</a:t>
              </a:r>
            </a:p>
          </p:txBody>
        </p:sp>
      </p:grpSp>
      <p:grpSp>
        <p:nvGrpSpPr>
          <p:cNvPr id="182" name="n:graph-merger Graph Merger"/>
          <p:cNvGrpSpPr/>
          <p:nvPr/>
        </p:nvGrpSpPr>
        <p:grpSpPr>
          <a:xfrm>
            <a:off x="1478280" y="2328005"/>
            <a:ext cx="1996439" cy="872395"/>
            <a:chOff x="1478280" y="2328005"/>
            <a:chExt cx="1996439" cy="872395"/>
          </a:xfrm>
        </p:grpSpPr>
        <p:sp>
          <p:nvSpPr>
            <p:cNvPr id="77" name="n:graph-merger 框"/>
            <p:cNvSpPr/>
            <p:nvPr/>
          </p:nvSpPr>
          <p:spPr>
            <a:xfrm>
              <a:off x="1600200" y="2362200"/>
              <a:ext cx="1752600" cy="838200"/>
            </a:xfrm>
            <a:prstGeom prst="roundRect">
              <a:avLst>
                <a:gd name="adj" fmla="val 6818"/>
              </a:avLst>
            </a:prstGeom>
            <a:solidFill>
              <a:srgbClr val="E2F0D9"/>
            </a:solidFill>
            <a:ln w="28575" cap="flat">
              <a:solidFill>
                <a:srgbClr val="182C51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78" name="n:graph-merger 文字"/>
            <p:cNvSpPr txBox="1"/>
            <p:nvPr/>
          </p:nvSpPr>
          <p:spPr>
            <a:xfrm>
              <a:off x="1863089" y="2328005"/>
              <a:ext cx="122682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1" i="0">
                  <a:solidFill>
                    <a:srgbClr val="030303"/>
                  </a:solidFill>
                  <a:latin typeface="Helvetica Neue"/>
                  <a:ea typeface="Source Han Sans CN"/>
                </a:rPr>
                <a:t>Graph</a:t>
              </a:r>
            </a:p>
          </p:txBody>
        </p:sp>
        <p:sp>
          <p:nvSpPr>
            <p:cNvPr id="79" name="n:graph-merger 文字"/>
            <p:cNvSpPr txBox="1"/>
            <p:nvPr/>
          </p:nvSpPr>
          <p:spPr>
            <a:xfrm>
              <a:off x="1478280" y="2632805"/>
              <a:ext cx="1996439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030303"/>
                  </a:solidFill>
                  <a:latin typeface="Helvetica Neue"/>
                  <a:ea typeface="Helvetica Neue"/>
                </a:rPr>
                <a:t>Merger (§3.2)</a:t>
              </a:r>
            </a:p>
          </p:txBody>
        </p:sp>
      </p:grpSp>
      <p:grpSp>
        <p:nvGrpSpPr>
          <p:cNvPr id="183" name="n:build-history Build History"/>
          <p:cNvGrpSpPr/>
          <p:nvPr/>
        </p:nvGrpSpPr>
        <p:grpSpPr>
          <a:xfrm>
            <a:off x="3916679" y="2362200"/>
            <a:ext cx="1882139" cy="838200"/>
            <a:chOff x="3916679" y="2362200"/>
            <a:chExt cx="1882139" cy="838200"/>
          </a:xfrm>
        </p:grpSpPr>
        <p:sp>
          <p:nvSpPr>
            <p:cNvPr id="80" name="n:build-history 线"/>
            <p:cNvSpPr/>
            <p:nvPr/>
          </p:nvSpPr>
          <p:spPr>
            <a:xfrm>
              <a:off x="3981450" y="2362200"/>
              <a:ext cx="1752600" cy="838200"/>
            </a:xfrm>
            <a:custGeom>
              <a:avLst/>
              <a:gdLst/>
              <a:ahLst/>
              <a:cxnLst/>
              <a:rect l="0" t="0" r="r" b="b"/>
              <a:pathLst>
                <a:path w="46000" h="22000">
                  <a:moveTo>
                    <a:pt x="0" y="2500"/>
                  </a:moveTo>
                  <a:cubicBezTo>
                    <a:pt x="0" y="1119"/>
                    <a:pt x="10297" y="0"/>
                    <a:pt x="23000" y="0"/>
                  </a:cubicBezTo>
                  <a:cubicBezTo>
                    <a:pt x="35703" y="0"/>
                    <a:pt x="46000" y="1119"/>
                    <a:pt x="46000" y="2500"/>
                  </a:cubicBezTo>
                  <a:lnTo>
                    <a:pt x="46000" y="19500"/>
                  </a:lnTo>
                  <a:cubicBezTo>
                    <a:pt x="46000" y="20881"/>
                    <a:pt x="35703" y="22000"/>
                    <a:pt x="23000" y="22000"/>
                  </a:cubicBezTo>
                  <a:cubicBezTo>
                    <a:pt x="10297" y="22000"/>
                    <a:pt x="0" y="20881"/>
                    <a:pt x="0" y="19500"/>
                  </a:cubicBezTo>
                  <a:close/>
                </a:path>
              </a:pathLst>
            </a:custGeom>
            <a:solidFill>
              <a:srgbClr val="FFFFFF"/>
            </a:solidFill>
            <a:ln w="28575" cap="flat">
              <a:solidFill>
                <a:srgbClr val="03030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n:build-history 圆"/>
            <p:cNvSpPr/>
            <p:nvPr/>
          </p:nvSpPr>
          <p:spPr>
            <a:xfrm>
              <a:off x="3981450" y="2362200"/>
              <a:ext cx="1752600" cy="190500"/>
            </a:xfrm>
            <a:prstGeom prst="ellipse">
              <a:avLst/>
            </a:prstGeom>
            <a:solidFill>
              <a:srgbClr val="FFFFFF"/>
            </a:solidFill>
            <a:ln w="28575" cap="flat">
              <a:solidFill>
                <a:srgbClr val="03030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82" name="n:build-history 文字"/>
            <p:cNvSpPr txBox="1"/>
            <p:nvPr/>
          </p:nvSpPr>
          <p:spPr>
            <a:xfrm>
              <a:off x="3916679" y="2517552"/>
              <a:ext cx="1882139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030303"/>
                  </a:solidFill>
                  <a:latin typeface="Helvetica Neue"/>
                  <a:ea typeface="Source Han Sans CN"/>
                </a:rPr>
                <a:t>Build History</a:t>
              </a:r>
            </a:p>
          </p:txBody>
        </p:sp>
      </p:grpSp>
      <p:grpSp>
        <p:nvGrpSpPr>
          <p:cNvPr id="184" name="n:remote-cache Remote Cache"/>
          <p:cNvGrpSpPr/>
          <p:nvPr/>
        </p:nvGrpSpPr>
        <p:grpSpPr>
          <a:xfrm>
            <a:off x="6280784" y="2362200"/>
            <a:ext cx="2145029" cy="838200"/>
            <a:chOff x="6280784" y="2362200"/>
            <a:chExt cx="2145029" cy="838200"/>
          </a:xfrm>
        </p:grpSpPr>
        <p:sp>
          <p:nvSpPr>
            <p:cNvPr id="83" name="n:remote-cache 线"/>
            <p:cNvSpPr/>
            <p:nvPr/>
          </p:nvSpPr>
          <p:spPr>
            <a:xfrm>
              <a:off x="6362700" y="2362200"/>
              <a:ext cx="1981200" cy="838200"/>
            </a:xfrm>
            <a:custGeom>
              <a:avLst/>
              <a:gdLst/>
              <a:ahLst/>
              <a:cxnLst/>
              <a:rect l="0" t="0" r="r" b="b"/>
              <a:pathLst>
                <a:path w="52000" h="22000">
                  <a:moveTo>
                    <a:pt x="0" y="2500"/>
                  </a:moveTo>
                  <a:cubicBezTo>
                    <a:pt x="0" y="1119"/>
                    <a:pt x="11641" y="0"/>
                    <a:pt x="26000" y="0"/>
                  </a:cubicBezTo>
                  <a:cubicBezTo>
                    <a:pt x="40359" y="0"/>
                    <a:pt x="52000" y="1119"/>
                    <a:pt x="52000" y="2500"/>
                  </a:cubicBezTo>
                  <a:lnTo>
                    <a:pt x="52000" y="19500"/>
                  </a:lnTo>
                  <a:cubicBezTo>
                    <a:pt x="52000" y="20881"/>
                    <a:pt x="40359" y="22000"/>
                    <a:pt x="26000" y="22000"/>
                  </a:cubicBezTo>
                  <a:cubicBezTo>
                    <a:pt x="11641" y="22000"/>
                    <a:pt x="0" y="20881"/>
                    <a:pt x="0" y="19500"/>
                  </a:cubicBezTo>
                  <a:close/>
                </a:path>
              </a:pathLst>
            </a:custGeom>
            <a:solidFill>
              <a:srgbClr val="FFFFFF"/>
            </a:solidFill>
            <a:ln w="28575" cap="flat">
              <a:solidFill>
                <a:srgbClr val="03030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n:remote-cache 圆"/>
            <p:cNvSpPr/>
            <p:nvPr/>
          </p:nvSpPr>
          <p:spPr>
            <a:xfrm>
              <a:off x="6362700" y="2362200"/>
              <a:ext cx="1981200" cy="190500"/>
            </a:xfrm>
            <a:prstGeom prst="ellipse">
              <a:avLst/>
            </a:prstGeom>
            <a:solidFill>
              <a:srgbClr val="FFFFFF"/>
            </a:solidFill>
            <a:ln w="28575" cap="flat">
              <a:solidFill>
                <a:srgbClr val="03030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85" name="n:remote-cache 文字"/>
            <p:cNvSpPr txBox="1"/>
            <p:nvPr/>
          </p:nvSpPr>
          <p:spPr>
            <a:xfrm>
              <a:off x="6280784" y="2517552"/>
              <a:ext cx="2145029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030303"/>
                  </a:solidFill>
                  <a:latin typeface="Helvetica Neue"/>
                  <a:ea typeface="Source Han Sans CN"/>
                </a:rPr>
                <a:t>Remote Cache</a:t>
              </a:r>
            </a:p>
          </p:txBody>
        </p:sp>
      </p:grpSp>
      <p:grpSp>
        <p:nvGrpSpPr>
          <p:cNvPr id="185" name="n:action-dedup Action Dedup"/>
          <p:cNvGrpSpPr/>
          <p:nvPr/>
        </p:nvGrpSpPr>
        <p:grpSpPr>
          <a:xfrm>
            <a:off x="1506855" y="3852005"/>
            <a:ext cx="1939289" cy="872395"/>
            <a:chOff x="1506855" y="3852005"/>
            <a:chExt cx="1939289" cy="872395"/>
          </a:xfrm>
        </p:grpSpPr>
        <p:sp>
          <p:nvSpPr>
            <p:cNvPr id="86" name="n:action-dedup 框"/>
            <p:cNvSpPr/>
            <p:nvPr/>
          </p:nvSpPr>
          <p:spPr>
            <a:xfrm>
              <a:off x="1600200" y="3886200"/>
              <a:ext cx="1752600" cy="838200"/>
            </a:xfrm>
            <a:prstGeom prst="roundRect">
              <a:avLst>
                <a:gd name="adj" fmla="val 6818"/>
              </a:avLst>
            </a:prstGeom>
            <a:solidFill>
              <a:srgbClr val="DDEBF7"/>
            </a:solidFill>
            <a:ln w="28575" cap="flat">
              <a:solidFill>
                <a:srgbClr val="182C51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87" name="n:action-dedup 文字"/>
            <p:cNvSpPr txBox="1"/>
            <p:nvPr/>
          </p:nvSpPr>
          <p:spPr>
            <a:xfrm>
              <a:off x="1842135" y="3852005"/>
              <a:ext cx="126873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1" i="0">
                  <a:solidFill>
                    <a:srgbClr val="030303"/>
                  </a:solidFill>
                  <a:latin typeface="Helvetica Neue"/>
                  <a:ea typeface="Source Han Sans CN"/>
                </a:rPr>
                <a:t>Action</a:t>
              </a:r>
            </a:p>
          </p:txBody>
        </p:sp>
        <p:sp>
          <p:nvSpPr>
            <p:cNvPr id="88" name="n:action-dedup 文字"/>
            <p:cNvSpPr txBox="1"/>
            <p:nvPr/>
          </p:nvSpPr>
          <p:spPr>
            <a:xfrm>
              <a:off x="1506855" y="4156805"/>
              <a:ext cx="1939289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030303"/>
                  </a:solidFill>
                  <a:latin typeface="Helvetica Neue"/>
                  <a:ea typeface="Helvetica Neue"/>
                </a:rPr>
                <a:t>Dedup (§3.3)</a:t>
              </a:r>
            </a:p>
          </p:txBody>
        </p:sp>
      </p:grpSp>
      <p:grpSp>
        <p:nvGrpSpPr>
          <p:cNvPr id="186" name="n:runner-placement Runner Placement"/>
          <p:cNvGrpSpPr/>
          <p:nvPr/>
        </p:nvGrpSpPr>
        <p:grpSpPr>
          <a:xfrm>
            <a:off x="3669029" y="3852005"/>
            <a:ext cx="2377440" cy="872395"/>
            <a:chOff x="3669029" y="3852005"/>
            <a:chExt cx="2377440" cy="872395"/>
          </a:xfrm>
        </p:grpSpPr>
        <p:sp>
          <p:nvSpPr>
            <p:cNvPr id="89" name="n:runner-placement 框"/>
            <p:cNvSpPr/>
            <p:nvPr/>
          </p:nvSpPr>
          <p:spPr>
            <a:xfrm>
              <a:off x="3771900" y="3886200"/>
              <a:ext cx="2171700" cy="838200"/>
            </a:xfrm>
            <a:prstGeom prst="roundRect">
              <a:avLst>
                <a:gd name="adj" fmla="val 6818"/>
              </a:avLst>
            </a:prstGeom>
            <a:solidFill>
              <a:srgbClr val="DDEBF7"/>
            </a:solidFill>
            <a:ln w="28575" cap="flat">
              <a:solidFill>
                <a:srgbClr val="182C51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90" name="n:runner-placement 文字"/>
            <p:cNvSpPr txBox="1"/>
            <p:nvPr/>
          </p:nvSpPr>
          <p:spPr>
            <a:xfrm>
              <a:off x="4175759" y="3852005"/>
              <a:ext cx="136398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1" i="0">
                  <a:solidFill>
                    <a:srgbClr val="030303"/>
                  </a:solidFill>
                  <a:latin typeface="Helvetica Neue"/>
                  <a:ea typeface="Source Han Sans CN"/>
                </a:rPr>
                <a:t>Runner</a:t>
              </a:r>
            </a:p>
          </p:txBody>
        </p:sp>
        <p:sp>
          <p:nvSpPr>
            <p:cNvPr id="91" name="n:runner-placement 文字"/>
            <p:cNvSpPr txBox="1"/>
            <p:nvPr/>
          </p:nvSpPr>
          <p:spPr>
            <a:xfrm>
              <a:off x="3669029" y="4156805"/>
              <a:ext cx="237744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030303"/>
                  </a:solidFill>
                  <a:latin typeface="Helvetica Neue"/>
                  <a:ea typeface="Helvetica Neue"/>
                </a:rPr>
                <a:t>Placement (§3.4)</a:t>
              </a:r>
            </a:p>
          </p:txBody>
        </p:sp>
      </p:grpSp>
      <p:grpSp>
        <p:nvGrpSpPr>
          <p:cNvPr id="187" name="n:cache-prefetch Cache Prefetch"/>
          <p:cNvGrpSpPr/>
          <p:nvPr/>
        </p:nvGrpSpPr>
        <p:grpSpPr>
          <a:xfrm>
            <a:off x="6286500" y="3852005"/>
            <a:ext cx="2133600" cy="872395"/>
            <a:chOff x="6286500" y="3852005"/>
            <a:chExt cx="2133600" cy="872395"/>
          </a:xfrm>
        </p:grpSpPr>
        <p:sp>
          <p:nvSpPr>
            <p:cNvPr id="92" name="n:cache-prefetch 框"/>
            <p:cNvSpPr/>
            <p:nvPr/>
          </p:nvSpPr>
          <p:spPr>
            <a:xfrm>
              <a:off x="6362700" y="3886200"/>
              <a:ext cx="1981200" cy="838200"/>
            </a:xfrm>
            <a:prstGeom prst="roundRect">
              <a:avLst>
                <a:gd name="adj" fmla="val 6818"/>
              </a:avLst>
            </a:prstGeom>
            <a:solidFill>
              <a:srgbClr val="DDEBF7"/>
            </a:solidFill>
            <a:ln w="28575" cap="flat">
              <a:solidFill>
                <a:srgbClr val="182C51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93" name="n:cache-prefetch 文字"/>
            <p:cNvSpPr txBox="1"/>
            <p:nvPr/>
          </p:nvSpPr>
          <p:spPr>
            <a:xfrm>
              <a:off x="6734175" y="3852005"/>
              <a:ext cx="123825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1" i="0">
                  <a:solidFill>
                    <a:srgbClr val="030303"/>
                  </a:solidFill>
                  <a:latin typeface="Helvetica Neue"/>
                  <a:ea typeface="Source Han Sans CN"/>
                </a:rPr>
                <a:t>Cache</a:t>
              </a:r>
            </a:p>
          </p:txBody>
        </p:sp>
        <p:sp>
          <p:nvSpPr>
            <p:cNvPr id="94" name="n:cache-prefetch 文字"/>
            <p:cNvSpPr txBox="1"/>
            <p:nvPr/>
          </p:nvSpPr>
          <p:spPr>
            <a:xfrm>
              <a:off x="6286500" y="4156805"/>
              <a:ext cx="213360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030303"/>
                  </a:solidFill>
                  <a:latin typeface="Helvetica Neue"/>
                  <a:ea typeface="Helvetica Neue"/>
                </a:rPr>
                <a:t>Prefetch (§3.5)</a:t>
              </a:r>
            </a:p>
          </p:txBody>
        </p:sp>
      </p:grpSp>
      <p:grpSp>
        <p:nvGrpSpPr>
          <p:cNvPr id="188" name="n:sandbox-executor Sandbox Executor"/>
          <p:cNvGrpSpPr/>
          <p:nvPr/>
        </p:nvGrpSpPr>
        <p:grpSpPr>
          <a:xfrm>
            <a:off x="417195" y="6699980"/>
            <a:ext cx="2518410" cy="859441"/>
            <a:chOff x="417195" y="6699980"/>
            <a:chExt cx="2518410" cy="859441"/>
          </a:xfrm>
        </p:grpSpPr>
        <p:sp>
          <p:nvSpPr>
            <p:cNvPr id="95" name="n:sandbox-executor 框"/>
            <p:cNvSpPr/>
            <p:nvPr/>
          </p:nvSpPr>
          <p:spPr>
            <a:xfrm>
              <a:off x="571500" y="6781800"/>
              <a:ext cx="2209800" cy="762000"/>
            </a:xfrm>
            <a:prstGeom prst="roundRect">
              <a:avLst>
                <a:gd name="adj" fmla="val 7500"/>
              </a:avLst>
            </a:prstGeom>
            <a:solidFill>
              <a:srgbClr val="FBE5D6"/>
            </a:solidFill>
            <a:ln w="28575" cap="flat">
              <a:solidFill>
                <a:srgbClr val="182C51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96" name="n:sandbox-executor 文字"/>
            <p:cNvSpPr txBox="1"/>
            <p:nvPr/>
          </p:nvSpPr>
          <p:spPr>
            <a:xfrm>
              <a:off x="417195" y="6699980"/>
              <a:ext cx="251841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030303"/>
                  </a:solidFill>
                  <a:latin typeface="Helvetica Neue"/>
                  <a:ea typeface="Source Han Sans CN"/>
                </a:rPr>
                <a:t>Sandbox Executor</a:t>
              </a:r>
            </a:p>
          </p:txBody>
        </p:sp>
        <p:sp>
          <p:nvSpPr>
            <p:cNvPr id="97" name="n:sandbox-executor 框"/>
            <p:cNvSpPr/>
            <p:nvPr/>
          </p:nvSpPr>
          <p:spPr>
            <a:xfrm>
              <a:off x="1047750" y="7200900"/>
              <a:ext cx="381000" cy="266700"/>
            </a:xfrm>
            <a:prstGeom prst="roundRect">
              <a:avLst>
                <a:gd name="adj" fmla="val 14285"/>
              </a:avLst>
            </a:prstGeom>
            <a:solidFill>
              <a:srgbClr val="9DC3E6"/>
            </a:solidFill>
            <a:ln w="15240" cap="flat">
              <a:solidFill>
                <a:srgbClr val="03030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98" name="n:sandbox-executor 文字"/>
            <p:cNvSpPr txBox="1"/>
            <p:nvPr/>
          </p:nvSpPr>
          <p:spPr>
            <a:xfrm>
              <a:off x="883919" y="7056501"/>
              <a:ext cx="70866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1" i="0">
                  <a:solidFill>
                    <a:srgbClr val="030303"/>
                  </a:solidFill>
                  <a:latin typeface="Helvetica Neue"/>
                  <a:ea typeface="Source Han Sans CN"/>
                </a:rPr>
                <a:t>J1</a:t>
              </a:r>
            </a:p>
          </p:txBody>
        </p:sp>
        <p:sp>
          <p:nvSpPr>
            <p:cNvPr id="99" name="n:sandbox-executor 框"/>
            <p:cNvSpPr/>
            <p:nvPr/>
          </p:nvSpPr>
          <p:spPr>
            <a:xfrm>
              <a:off x="1485900" y="7200900"/>
              <a:ext cx="381000" cy="266700"/>
            </a:xfrm>
            <a:prstGeom prst="roundRect">
              <a:avLst>
                <a:gd name="adj" fmla="val 14285"/>
              </a:avLst>
            </a:prstGeom>
            <a:solidFill>
              <a:srgbClr val="C5E0B4"/>
            </a:solidFill>
            <a:ln w="15240" cap="flat">
              <a:solidFill>
                <a:srgbClr val="03030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00" name="n:sandbox-executor 文字"/>
            <p:cNvSpPr txBox="1"/>
            <p:nvPr/>
          </p:nvSpPr>
          <p:spPr>
            <a:xfrm>
              <a:off x="1322070" y="7056501"/>
              <a:ext cx="70866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1" i="0">
                  <a:solidFill>
                    <a:srgbClr val="030303"/>
                  </a:solidFill>
                  <a:latin typeface="Helvetica Neue"/>
                  <a:ea typeface="Source Han Sans CN"/>
                </a:rPr>
                <a:t>J2</a:t>
              </a:r>
            </a:p>
          </p:txBody>
        </p:sp>
        <p:sp>
          <p:nvSpPr>
            <p:cNvPr id="101" name="n:sandbox-executor 框"/>
            <p:cNvSpPr/>
            <p:nvPr/>
          </p:nvSpPr>
          <p:spPr>
            <a:xfrm>
              <a:off x="1924050" y="7200900"/>
              <a:ext cx="381000" cy="266700"/>
            </a:xfrm>
            <a:prstGeom prst="roundRect">
              <a:avLst>
                <a:gd name="adj" fmla="val 14285"/>
              </a:avLst>
            </a:prstGeom>
            <a:solidFill>
              <a:srgbClr val="F8CBAD"/>
            </a:solidFill>
            <a:ln w="15240" cap="flat">
              <a:solidFill>
                <a:srgbClr val="03030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02" name="n:sandbox-executor 文字"/>
            <p:cNvSpPr txBox="1"/>
            <p:nvPr/>
          </p:nvSpPr>
          <p:spPr>
            <a:xfrm>
              <a:off x="1760220" y="7056501"/>
              <a:ext cx="70866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1" i="0">
                  <a:solidFill>
                    <a:srgbClr val="030303"/>
                  </a:solidFill>
                  <a:latin typeface="Helvetica Neue"/>
                  <a:ea typeface="Source Han Sans CN"/>
                </a:rPr>
                <a:t>J3</a:t>
              </a:r>
            </a:p>
          </p:txBody>
        </p:sp>
      </p:grpSp>
      <p:grpSp>
        <p:nvGrpSpPr>
          <p:cNvPr id="189" name="n:sandbox-executor~2"/>
          <p:cNvGrpSpPr/>
          <p:nvPr/>
        </p:nvGrpSpPr>
        <p:grpSpPr>
          <a:xfrm>
            <a:off x="3046095" y="6699980"/>
            <a:ext cx="2518410" cy="859441"/>
            <a:chOff x="3046095" y="6699980"/>
            <a:chExt cx="2518410" cy="859441"/>
          </a:xfrm>
        </p:grpSpPr>
        <p:sp>
          <p:nvSpPr>
            <p:cNvPr id="103" name="n:sandbox-executor~2 框"/>
            <p:cNvSpPr/>
            <p:nvPr/>
          </p:nvSpPr>
          <p:spPr>
            <a:xfrm>
              <a:off x="3200400" y="6781800"/>
              <a:ext cx="2209800" cy="762000"/>
            </a:xfrm>
            <a:prstGeom prst="roundRect">
              <a:avLst>
                <a:gd name="adj" fmla="val 7500"/>
              </a:avLst>
            </a:prstGeom>
            <a:solidFill>
              <a:srgbClr val="FBE5D6"/>
            </a:solidFill>
            <a:ln w="28575" cap="flat">
              <a:solidFill>
                <a:srgbClr val="182C51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04" name="n:sandbox-executor~2 文字"/>
            <p:cNvSpPr txBox="1"/>
            <p:nvPr/>
          </p:nvSpPr>
          <p:spPr>
            <a:xfrm>
              <a:off x="3046095" y="6699980"/>
              <a:ext cx="251841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030303"/>
                  </a:solidFill>
                  <a:latin typeface="Helvetica Neue"/>
                  <a:ea typeface="Source Han Sans CN"/>
                </a:rPr>
                <a:t>Sandbox Executor</a:t>
              </a:r>
            </a:p>
          </p:txBody>
        </p:sp>
        <p:sp>
          <p:nvSpPr>
            <p:cNvPr id="105" name="n:sandbox-executor~2 框"/>
            <p:cNvSpPr/>
            <p:nvPr/>
          </p:nvSpPr>
          <p:spPr>
            <a:xfrm>
              <a:off x="3676650" y="7200900"/>
              <a:ext cx="381000" cy="266700"/>
            </a:xfrm>
            <a:prstGeom prst="roundRect">
              <a:avLst>
                <a:gd name="adj" fmla="val 14285"/>
              </a:avLst>
            </a:prstGeom>
            <a:solidFill>
              <a:srgbClr val="9DC3E6"/>
            </a:solidFill>
            <a:ln w="15240" cap="flat">
              <a:solidFill>
                <a:srgbClr val="03030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06" name="n:sandbox-executor~2 文字"/>
            <p:cNvSpPr txBox="1"/>
            <p:nvPr/>
          </p:nvSpPr>
          <p:spPr>
            <a:xfrm>
              <a:off x="3512820" y="7056501"/>
              <a:ext cx="70866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1" i="0">
                  <a:solidFill>
                    <a:srgbClr val="030303"/>
                  </a:solidFill>
                  <a:latin typeface="Helvetica Neue"/>
                  <a:ea typeface="Source Han Sans CN"/>
                </a:rPr>
                <a:t>J1</a:t>
              </a:r>
            </a:p>
          </p:txBody>
        </p:sp>
        <p:sp>
          <p:nvSpPr>
            <p:cNvPr id="107" name="n:sandbox-executor~2 框"/>
            <p:cNvSpPr/>
            <p:nvPr/>
          </p:nvSpPr>
          <p:spPr>
            <a:xfrm>
              <a:off x="4114800" y="7200900"/>
              <a:ext cx="381000" cy="266700"/>
            </a:xfrm>
            <a:prstGeom prst="roundRect">
              <a:avLst>
                <a:gd name="adj" fmla="val 14285"/>
              </a:avLst>
            </a:prstGeom>
            <a:solidFill>
              <a:srgbClr val="C5E0B4"/>
            </a:solidFill>
            <a:ln w="15240" cap="flat">
              <a:solidFill>
                <a:srgbClr val="03030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08" name="n:sandbox-executor~2 文字"/>
            <p:cNvSpPr txBox="1"/>
            <p:nvPr/>
          </p:nvSpPr>
          <p:spPr>
            <a:xfrm>
              <a:off x="3950970" y="7056501"/>
              <a:ext cx="70866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1" i="0">
                  <a:solidFill>
                    <a:srgbClr val="030303"/>
                  </a:solidFill>
                  <a:latin typeface="Helvetica Neue"/>
                  <a:ea typeface="Source Han Sans CN"/>
                </a:rPr>
                <a:t>J2</a:t>
              </a:r>
            </a:p>
          </p:txBody>
        </p:sp>
        <p:sp>
          <p:nvSpPr>
            <p:cNvPr id="109" name="n:sandbox-executor~2 框"/>
            <p:cNvSpPr/>
            <p:nvPr/>
          </p:nvSpPr>
          <p:spPr>
            <a:xfrm>
              <a:off x="4552950" y="7200900"/>
              <a:ext cx="381000" cy="266700"/>
            </a:xfrm>
            <a:prstGeom prst="roundRect">
              <a:avLst>
                <a:gd name="adj" fmla="val 14285"/>
              </a:avLst>
            </a:prstGeom>
            <a:solidFill>
              <a:srgbClr val="F8CBAD"/>
            </a:solidFill>
            <a:ln w="15240" cap="flat">
              <a:solidFill>
                <a:srgbClr val="03030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10" name="n:sandbox-executor~2 文字"/>
            <p:cNvSpPr txBox="1"/>
            <p:nvPr/>
          </p:nvSpPr>
          <p:spPr>
            <a:xfrm>
              <a:off x="4389120" y="7056501"/>
              <a:ext cx="70866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1" i="0">
                  <a:solidFill>
                    <a:srgbClr val="030303"/>
                  </a:solidFill>
                  <a:latin typeface="Helvetica Neue"/>
                  <a:ea typeface="Source Han Sans CN"/>
                </a:rPr>
                <a:t>J3</a:t>
              </a:r>
            </a:p>
          </p:txBody>
        </p:sp>
      </p:grpSp>
      <p:grpSp>
        <p:nvGrpSpPr>
          <p:cNvPr id="190" name="n:sandbox-executor~4"/>
          <p:cNvGrpSpPr/>
          <p:nvPr/>
        </p:nvGrpSpPr>
        <p:grpSpPr>
          <a:xfrm>
            <a:off x="5903595" y="6699980"/>
            <a:ext cx="2518410" cy="859441"/>
            <a:chOff x="5903595" y="6699980"/>
            <a:chExt cx="2518410" cy="859441"/>
          </a:xfrm>
        </p:grpSpPr>
        <p:sp>
          <p:nvSpPr>
            <p:cNvPr id="111" name="n:sandbox-executor~4 框"/>
            <p:cNvSpPr/>
            <p:nvPr/>
          </p:nvSpPr>
          <p:spPr>
            <a:xfrm>
              <a:off x="6057900" y="6781800"/>
              <a:ext cx="2209800" cy="762000"/>
            </a:xfrm>
            <a:prstGeom prst="roundRect">
              <a:avLst>
                <a:gd name="adj" fmla="val 7500"/>
              </a:avLst>
            </a:prstGeom>
            <a:solidFill>
              <a:srgbClr val="FBE5D6"/>
            </a:solidFill>
            <a:ln w="28575" cap="flat">
              <a:solidFill>
                <a:srgbClr val="182C51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12" name="n:sandbox-executor~4 文字"/>
            <p:cNvSpPr txBox="1"/>
            <p:nvPr/>
          </p:nvSpPr>
          <p:spPr>
            <a:xfrm>
              <a:off x="5903595" y="6699980"/>
              <a:ext cx="251841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030303"/>
                  </a:solidFill>
                  <a:latin typeface="Helvetica Neue"/>
                  <a:ea typeface="Source Han Sans CN"/>
                </a:rPr>
                <a:t>Sandbox Executor</a:t>
              </a:r>
            </a:p>
          </p:txBody>
        </p:sp>
        <p:sp>
          <p:nvSpPr>
            <p:cNvPr id="113" name="n:sandbox-executor~4 框"/>
            <p:cNvSpPr/>
            <p:nvPr/>
          </p:nvSpPr>
          <p:spPr>
            <a:xfrm>
              <a:off x="6534150" y="7200900"/>
              <a:ext cx="381000" cy="266700"/>
            </a:xfrm>
            <a:prstGeom prst="roundRect">
              <a:avLst>
                <a:gd name="adj" fmla="val 14285"/>
              </a:avLst>
            </a:prstGeom>
            <a:solidFill>
              <a:srgbClr val="9DC3E6"/>
            </a:solidFill>
            <a:ln w="15240" cap="flat">
              <a:solidFill>
                <a:srgbClr val="03030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14" name="n:sandbox-executor~4 文字"/>
            <p:cNvSpPr txBox="1"/>
            <p:nvPr/>
          </p:nvSpPr>
          <p:spPr>
            <a:xfrm>
              <a:off x="6370320" y="7056501"/>
              <a:ext cx="70866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1" i="0">
                  <a:solidFill>
                    <a:srgbClr val="030303"/>
                  </a:solidFill>
                  <a:latin typeface="Helvetica Neue"/>
                  <a:ea typeface="Source Han Sans CN"/>
                </a:rPr>
                <a:t>J1</a:t>
              </a:r>
            </a:p>
          </p:txBody>
        </p:sp>
        <p:sp>
          <p:nvSpPr>
            <p:cNvPr id="115" name="n:sandbox-executor~4 框"/>
            <p:cNvSpPr/>
            <p:nvPr/>
          </p:nvSpPr>
          <p:spPr>
            <a:xfrm>
              <a:off x="6972300" y="7200900"/>
              <a:ext cx="381000" cy="266700"/>
            </a:xfrm>
            <a:prstGeom prst="roundRect">
              <a:avLst>
                <a:gd name="adj" fmla="val 14285"/>
              </a:avLst>
            </a:prstGeom>
            <a:solidFill>
              <a:srgbClr val="C5E0B4"/>
            </a:solidFill>
            <a:ln w="15240" cap="flat">
              <a:solidFill>
                <a:srgbClr val="03030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16" name="n:sandbox-executor~4 文字"/>
            <p:cNvSpPr txBox="1"/>
            <p:nvPr/>
          </p:nvSpPr>
          <p:spPr>
            <a:xfrm>
              <a:off x="6808469" y="7056501"/>
              <a:ext cx="70866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1" i="0">
                  <a:solidFill>
                    <a:srgbClr val="030303"/>
                  </a:solidFill>
                  <a:latin typeface="Helvetica Neue"/>
                  <a:ea typeface="Source Han Sans CN"/>
                </a:rPr>
                <a:t>J2</a:t>
              </a:r>
            </a:p>
          </p:txBody>
        </p:sp>
        <p:sp>
          <p:nvSpPr>
            <p:cNvPr id="117" name="n:sandbox-executor~4 框"/>
            <p:cNvSpPr/>
            <p:nvPr/>
          </p:nvSpPr>
          <p:spPr>
            <a:xfrm>
              <a:off x="7410450" y="7200900"/>
              <a:ext cx="381000" cy="266700"/>
            </a:xfrm>
            <a:prstGeom prst="roundRect">
              <a:avLst>
                <a:gd name="adj" fmla="val 14285"/>
              </a:avLst>
            </a:prstGeom>
            <a:solidFill>
              <a:srgbClr val="F8CBAD"/>
            </a:solidFill>
            <a:ln w="15240" cap="flat">
              <a:solidFill>
                <a:srgbClr val="03030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18" name="n:sandbox-executor~4 文字"/>
            <p:cNvSpPr txBox="1"/>
            <p:nvPr/>
          </p:nvSpPr>
          <p:spPr>
            <a:xfrm>
              <a:off x="7246619" y="7056501"/>
              <a:ext cx="70866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1" i="0">
                  <a:solidFill>
                    <a:srgbClr val="030303"/>
                  </a:solidFill>
                  <a:latin typeface="Helvetica Neue"/>
                  <a:ea typeface="Source Han Sans CN"/>
                </a:rPr>
                <a:t>J3</a:t>
              </a:r>
            </a:p>
          </p:txBody>
        </p:sp>
      </p:grpSp>
      <p:grpSp>
        <p:nvGrpSpPr>
          <p:cNvPr id="191" name="a:push-jobs J1 J2 J3"/>
          <p:cNvGrpSpPr/>
          <p:nvPr/>
        </p:nvGrpSpPr>
        <p:grpSpPr>
          <a:xfrm>
            <a:off x="4674870" y="465200"/>
            <a:ext cx="1584960" cy="502920"/>
            <a:chOff x="4674870" y="465200"/>
            <a:chExt cx="1584960" cy="502920"/>
          </a:xfrm>
        </p:grpSpPr>
        <p:sp>
          <p:nvSpPr>
            <p:cNvPr id="119" name="a:push-jobs 框"/>
            <p:cNvSpPr/>
            <p:nvPr/>
          </p:nvSpPr>
          <p:spPr>
            <a:xfrm>
              <a:off x="4838700" y="609600"/>
              <a:ext cx="381000" cy="266700"/>
            </a:xfrm>
            <a:prstGeom prst="roundRect">
              <a:avLst>
                <a:gd name="adj" fmla="val 14285"/>
              </a:avLst>
            </a:prstGeom>
            <a:solidFill>
              <a:srgbClr val="9DC3E6"/>
            </a:solidFill>
            <a:ln w="15240" cap="flat">
              <a:solidFill>
                <a:srgbClr val="03030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20" name="a:push-jobs 文字"/>
            <p:cNvSpPr txBox="1"/>
            <p:nvPr/>
          </p:nvSpPr>
          <p:spPr>
            <a:xfrm>
              <a:off x="4674870" y="465200"/>
              <a:ext cx="70866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1" i="0">
                  <a:solidFill>
                    <a:srgbClr val="030303"/>
                  </a:solidFill>
                  <a:latin typeface="Helvetica Neue"/>
                  <a:ea typeface="Source Han Sans CN"/>
                </a:rPr>
                <a:t>J1</a:t>
              </a:r>
            </a:p>
          </p:txBody>
        </p:sp>
        <p:sp>
          <p:nvSpPr>
            <p:cNvPr id="121" name="a:push-jobs 框"/>
            <p:cNvSpPr/>
            <p:nvPr/>
          </p:nvSpPr>
          <p:spPr>
            <a:xfrm>
              <a:off x="5276850" y="609600"/>
              <a:ext cx="381000" cy="266700"/>
            </a:xfrm>
            <a:prstGeom prst="roundRect">
              <a:avLst>
                <a:gd name="adj" fmla="val 14285"/>
              </a:avLst>
            </a:prstGeom>
            <a:solidFill>
              <a:srgbClr val="C5E0B4"/>
            </a:solidFill>
            <a:ln w="15240" cap="flat">
              <a:solidFill>
                <a:srgbClr val="03030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22" name="a:push-jobs 文字"/>
            <p:cNvSpPr txBox="1"/>
            <p:nvPr/>
          </p:nvSpPr>
          <p:spPr>
            <a:xfrm>
              <a:off x="5113020" y="465200"/>
              <a:ext cx="70866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1" i="0">
                  <a:solidFill>
                    <a:srgbClr val="030303"/>
                  </a:solidFill>
                  <a:latin typeface="Helvetica Neue"/>
                  <a:ea typeface="Source Han Sans CN"/>
                </a:rPr>
                <a:t>J2</a:t>
              </a:r>
            </a:p>
          </p:txBody>
        </p:sp>
        <p:sp>
          <p:nvSpPr>
            <p:cNvPr id="123" name="a:push-jobs 框"/>
            <p:cNvSpPr/>
            <p:nvPr/>
          </p:nvSpPr>
          <p:spPr>
            <a:xfrm>
              <a:off x="5715000" y="609600"/>
              <a:ext cx="381000" cy="266700"/>
            </a:xfrm>
            <a:prstGeom prst="roundRect">
              <a:avLst>
                <a:gd name="adj" fmla="val 14285"/>
              </a:avLst>
            </a:prstGeom>
            <a:solidFill>
              <a:srgbClr val="F8CBAD"/>
            </a:solidFill>
            <a:ln w="15240" cap="flat">
              <a:solidFill>
                <a:srgbClr val="03030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24" name="a:push-jobs 文字"/>
            <p:cNvSpPr txBox="1"/>
            <p:nvPr/>
          </p:nvSpPr>
          <p:spPr>
            <a:xfrm>
              <a:off x="5551170" y="465200"/>
              <a:ext cx="70866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1" i="0">
                  <a:solidFill>
                    <a:srgbClr val="030303"/>
                  </a:solidFill>
                  <a:latin typeface="Helvetica Neue"/>
                  <a:ea typeface="Source Han Sans CN"/>
                </a:rPr>
                <a:t>J3</a:t>
              </a:r>
            </a:p>
          </p:txBody>
        </p:sp>
      </p:grpSp>
      <p:grpSp>
        <p:nvGrpSpPr>
          <p:cNvPr id="192" name="a:dedup-example codegen J1 J2 J3, //core"/>
          <p:cNvGrpSpPr/>
          <p:nvPr/>
        </p:nvGrpSpPr>
        <p:grpSpPr>
          <a:xfrm>
            <a:off x="1451610" y="4724400"/>
            <a:ext cx="5360670" cy="1123950"/>
            <a:chOff x="1451610" y="4724400"/>
            <a:chExt cx="5360670" cy="1123950"/>
          </a:xfrm>
        </p:grpSpPr>
        <p:sp>
          <p:nvSpPr>
            <p:cNvPr id="125" name="a:dedup-example 框"/>
            <p:cNvSpPr/>
            <p:nvPr/>
          </p:nvSpPr>
          <p:spPr>
            <a:xfrm>
              <a:off x="1466850" y="4972050"/>
              <a:ext cx="5314950" cy="876300"/>
            </a:xfrm>
            <a:prstGeom prst="roundRect">
              <a:avLst>
                <a:gd name="adj" fmla="val 6521"/>
              </a:avLst>
            </a:prstGeom>
            <a:noFill/>
            <a:ln w="19050" cap="flat">
              <a:solidFill>
                <a:srgbClr val="030303"/>
              </a:solidFill>
              <a:custDash>
                <a:ds d="400000" sp="300000"/>
              </a:custDash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cxnSp>
          <p:nvCxnSpPr>
            <p:cNvPr id="126" name="a:dedup-example 线"/>
            <p:cNvCxnSpPr/>
            <p:nvPr/>
          </p:nvCxnSpPr>
          <p:spPr>
            <a:xfrm>
              <a:off x="2476500" y="4724400"/>
              <a:ext cx="0" cy="247650"/>
            </a:xfrm>
            <a:prstGeom prst="line">
              <a:avLst/>
            </a:prstGeom>
            <a:ln w="30480" cap="flat">
              <a:solidFill>
                <a:srgbClr val="030303"/>
              </a:solidFill>
              <a:miter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a:dedup-example 框"/>
            <p:cNvSpPr/>
            <p:nvPr/>
          </p:nvSpPr>
          <p:spPr>
            <a:xfrm>
              <a:off x="1600200" y="5067300"/>
              <a:ext cx="1028700" cy="266700"/>
            </a:xfrm>
            <a:prstGeom prst="roundRect">
              <a:avLst>
                <a:gd name="adj" fmla="val 14285"/>
              </a:avLst>
            </a:prstGeom>
            <a:solidFill>
              <a:srgbClr val="FFFFFF"/>
            </a:solidFill>
            <a:ln w="22859" cap="flat">
              <a:solidFill>
                <a:srgbClr val="ED7D31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28" name="a:dedup-example 文字"/>
            <p:cNvSpPr txBox="1"/>
            <p:nvPr/>
          </p:nvSpPr>
          <p:spPr>
            <a:xfrm>
              <a:off x="1451610" y="4922901"/>
              <a:ext cx="132588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0" i="0">
                  <a:solidFill>
                    <a:srgbClr val="030303"/>
                  </a:solidFill>
                  <a:latin typeface="Helvetica Neue"/>
                  <a:ea typeface="Source Han Sans CN"/>
                </a:rPr>
                <a:t>codegen</a:t>
              </a:r>
            </a:p>
          </p:txBody>
        </p:sp>
        <p:sp>
          <p:nvSpPr>
            <p:cNvPr id="129" name="a:dedup-example 框"/>
            <p:cNvSpPr/>
            <p:nvPr/>
          </p:nvSpPr>
          <p:spPr>
            <a:xfrm>
              <a:off x="2705100" y="5067300"/>
              <a:ext cx="381000" cy="266700"/>
            </a:xfrm>
            <a:prstGeom prst="roundRect">
              <a:avLst>
                <a:gd name="adj" fmla="val 14285"/>
              </a:avLst>
            </a:prstGeom>
            <a:solidFill>
              <a:srgbClr val="9DC3E6"/>
            </a:solidFill>
            <a:ln w="15240" cap="flat">
              <a:solidFill>
                <a:srgbClr val="03030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30" name="a:dedup-example 文字"/>
            <p:cNvSpPr txBox="1"/>
            <p:nvPr/>
          </p:nvSpPr>
          <p:spPr>
            <a:xfrm>
              <a:off x="2541270" y="4922901"/>
              <a:ext cx="70866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1" i="0">
                  <a:solidFill>
                    <a:srgbClr val="030303"/>
                  </a:solidFill>
                  <a:latin typeface="Helvetica Neue"/>
                  <a:ea typeface="Source Han Sans CN"/>
                </a:rPr>
                <a:t>J1</a:t>
              </a:r>
            </a:p>
          </p:txBody>
        </p:sp>
        <p:sp>
          <p:nvSpPr>
            <p:cNvPr id="131" name="a:dedup-example 框"/>
            <p:cNvSpPr/>
            <p:nvPr/>
          </p:nvSpPr>
          <p:spPr>
            <a:xfrm>
              <a:off x="3143250" y="5067300"/>
              <a:ext cx="381000" cy="266700"/>
            </a:xfrm>
            <a:prstGeom prst="roundRect">
              <a:avLst>
                <a:gd name="adj" fmla="val 14285"/>
              </a:avLst>
            </a:prstGeom>
            <a:solidFill>
              <a:srgbClr val="C5E0B4"/>
            </a:solidFill>
            <a:ln w="15240" cap="flat">
              <a:solidFill>
                <a:srgbClr val="03030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32" name="a:dedup-example 文字"/>
            <p:cNvSpPr txBox="1"/>
            <p:nvPr/>
          </p:nvSpPr>
          <p:spPr>
            <a:xfrm>
              <a:off x="2979420" y="4922901"/>
              <a:ext cx="70866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1" i="0">
                  <a:solidFill>
                    <a:srgbClr val="030303"/>
                  </a:solidFill>
                  <a:latin typeface="Helvetica Neue"/>
                  <a:ea typeface="Source Han Sans CN"/>
                </a:rPr>
                <a:t>J2</a:t>
              </a:r>
            </a:p>
          </p:txBody>
        </p:sp>
        <p:sp>
          <p:nvSpPr>
            <p:cNvPr id="133" name="a:dedup-example 框"/>
            <p:cNvSpPr/>
            <p:nvPr/>
          </p:nvSpPr>
          <p:spPr>
            <a:xfrm>
              <a:off x="3581400" y="5067300"/>
              <a:ext cx="381000" cy="266700"/>
            </a:xfrm>
            <a:prstGeom prst="roundRect">
              <a:avLst>
                <a:gd name="adj" fmla="val 14285"/>
              </a:avLst>
            </a:prstGeom>
            <a:solidFill>
              <a:srgbClr val="F8CBAD"/>
            </a:solidFill>
            <a:ln w="15240" cap="flat">
              <a:solidFill>
                <a:srgbClr val="03030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34" name="a:dedup-example 文字"/>
            <p:cNvSpPr txBox="1"/>
            <p:nvPr/>
          </p:nvSpPr>
          <p:spPr>
            <a:xfrm>
              <a:off x="3417570" y="4922901"/>
              <a:ext cx="70866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1" i="0">
                  <a:solidFill>
                    <a:srgbClr val="030303"/>
                  </a:solidFill>
                  <a:latin typeface="Helvetica Neue"/>
                  <a:ea typeface="Source Han Sans CN"/>
                </a:rPr>
                <a:t>J3</a:t>
              </a:r>
            </a:p>
          </p:txBody>
        </p:sp>
        <p:sp>
          <p:nvSpPr>
            <p:cNvPr id="135" name="a:dedup-example 框"/>
            <p:cNvSpPr/>
            <p:nvPr/>
          </p:nvSpPr>
          <p:spPr>
            <a:xfrm>
              <a:off x="4191000" y="5067300"/>
              <a:ext cx="1562100" cy="266700"/>
            </a:xfrm>
            <a:prstGeom prst="roundRect">
              <a:avLst>
                <a:gd name="adj" fmla="val 14285"/>
              </a:avLst>
            </a:prstGeom>
            <a:solidFill>
              <a:srgbClr val="FFFFFF"/>
            </a:solidFill>
            <a:ln w="22859" cap="flat">
              <a:solidFill>
                <a:srgbClr val="ED7D31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36" name="a:dedup-example 文字"/>
            <p:cNvSpPr txBox="1"/>
            <p:nvPr/>
          </p:nvSpPr>
          <p:spPr>
            <a:xfrm>
              <a:off x="4034790" y="4922901"/>
              <a:ext cx="187452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0" i="0">
                  <a:solidFill>
                    <a:srgbClr val="030303"/>
                  </a:solidFill>
                  <a:latin typeface="Helvetica Neue"/>
                  <a:ea typeface="Source Han Sans CN"/>
                </a:rPr>
                <a:t>//core compile</a:t>
              </a:r>
            </a:p>
          </p:txBody>
        </p:sp>
        <p:sp>
          <p:nvSpPr>
            <p:cNvPr id="137" name="a:dedup-example 框"/>
            <p:cNvSpPr/>
            <p:nvPr/>
          </p:nvSpPr>
          <p:spPr>
            <a:xfrm>
              <a:off x="5829300" y="5067300"/>
              <a:ext cx="381000" cy="266700"/>
            </a:xfrm>
            <a:prstGeom prst="roundRect">
              <a:avLst>
                <a:gd name="adj" fmla="val 14285"/>
              </a:avLst>
            </a:prstGeom>
            <a:solidFill>
              <a:srgbClr val="9DC3E6"/>
            </a:solidFill>
            <a:ln w="15240" cap="flat">
              <a:solidFill>
                <a:srgbClr val="03030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38" name="a:dedup-example 文字"/>
            <p:cNvSpPr txBox="1"/>
            <p:nvPr/>
          </p:nvSpPr>
          <p:spPr>
            <a:xfrm>
              <a:off x="5665470" y="4922901"/>
              <a:ext cx="70866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1" i="0">
                  <a:solidFill>
                    <a:srgbClr val="030303"/>
                  </a:solidFill>
                  <a:latin typeface="Helvetica Neue"/>
                  <a:ea typeface="Source Han Sans CN"/>
                </a:rPr>
                <a:t>J1</a:t>
              </a:r>
            </a:p>
          </p:txBody>
        </p:sp>
        <p:sp>
          <p:nvSpPr>
            <p:cNvPr id="139" name="a:dedup-example 框"/>
            <p:cNvSpPr/>
            <p:nvPr/>
          </p:nvSpPr>
          <p:spPr>
            <a:xfrm>
              <a:off x="6267450" y="5067300"/>
              <a:ext cx="381000" cy="266700"/>
            </a:xfrm>
            <a:prstGeom prst="roundRect">
              <a:avLst>
                <a:gd name="adj" fmla="val 14285"/>
              </a:avLst>
            </a:prstGeom>
            <a:solidFill>
              <a:srgbClr val="C5E0B4"/>
            </a:solidFill>
            <a:ln w="15240" cap="flat">
              <a:solidFill>
                <a:srgbClr val="03030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40" name="a:dedup-example 文字"/>
            <p:cNvSpPr txBox="1"/>
            <p:nvPr/>
          </p:nvSpPr>
          <p:spPr>
            <a:xfrm>
              <a:off x="6103620" y="4922901"/>
              <a:ext cx="70866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1" i="0">
                  <a:solidFill>
                    <a:srgbClr val="030303"/>
                  </a:solidFill>
                  <a:latin typeface="Helvetica Neue"/>
                  <a:ea typeface="Source Han Sans CN"/>
                </a:rPr>
                <a:t>J2</a:t>
              </a:r>
            </a:p>
          </p:txBody>
        </p:sp>
        <p:sp>
          <p:nvSpPr>
            <p:cNvPr id="141" name="a:dedup-example 框"/>
            <p:cNvSpPr/>
            <p:nvPr/>
          </p:nvSpPr>
          <p:spPr>
            <a:xfrm>
              <a:off x="1600200" y="5486400"/>
              <a:ext cx="533400" cy="266700"/>
            </a:xfrm>
            <a:prstGeom prst="roundRect">
              <a:avLst>
                <a:gd name="adj" fmla="val 14285"/>
              </a:avLst>
            </a:prstGeom>
            <a:solidFill>
              <a:srgbClr val="FFFFFF"/>
            </a:solidFill>
            <a:ln w="19050" cap="flat">
              <a:solidFill>
                <a:srgbClr val="03030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42" name="a:dedup-example 文字"/>
            <p:cNvSpPr txBox="1"/>
            <p:nvPr/>
          </p:nvSpPr>
          <p:spPr>
            <a:xfrm>
              <a:off x="1453514" y="5342001"/>
              <a:ext cx="826769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0" i="0">
                  <a:solidFill>
                    <a:srgbClr val="030303"/>
                  </a:solidFill>
                  <a:latin typeface="Helvetica Neue"/>
                  <a:ea typeface="Source Han Sans CN"/>
                </a:rPr>
                <a:t>test</a:t>
              </a:r>
            </a:p>
          </p:txBody>
        </p:sp>
        <p:sp>
          <p:nvSpPr>
            <p:cNvPr id="143" name="a:dedup-example 框"/>
            <p:cNvSpPr/>
            <p:nvPr/>
          </p:nvSpPr>
          <p:spPr>
            <a:xfrm>
              <a:off x="2209800" y="5486400"/>
              <a:ext cx="381000" cy="266700"/>
            </a:xfrm>
            <a:prstGeom prst="roundRect">
              <a:avLst>
                <a:gd name="adj" fmla="val 14285"/>
              </a:avLst>
            </a:prstGeom>
            <a:solidFill>
              <a:srgbClr val="9DC3E6"/>
            </a:solidFill>
            <a:ln w="15240" cap="flat">
              <a:solidFill>
                <a:srgbClr val="03030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44" name="a:dedup-example 文字"/>
            <p:cNvSpPr txBox="1"/>
            <p:nvPr/>
          </p:nvSpPr>
          <p:spPr>
            <a:xfrm>
              <a:off x="2045970" y="5342001"/>
              <a:ext cx="70866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1" i="0">
                  <a:solidFill>
                    <a:srgbClr val="030303"/>
                  </a:solidFill>
                  <a:latin typeface="Helvetica Neue"/>
                  <a:ea typeface="Source Han Sans CN"/>
                </a:rPr>
                <a:t>J1</a:t>
              </a:r>
            </a:p>
          </p:txBody>
        </p:sp>
        <p:sp>
          <p:nvSpPr>
            <p:cNvPr id="145" name="a:dedup-example 框"/>
            <p:cNvSpPr/>
            <p:nvPr/>
          </p:nvSpPr>
          <p:spPr>
            <a:xfrm>
              <a:off x="2819400" y="5486400"/>
              <a:ext cx="495300" cy="266700"/>
            </a:xfrm>
            <a:prstGeom prst="roundRect">
              <a:avLst>
                <a:gd name="adj" fmla="val 14285"/>
              </a:avLst>
            </a:prstGeom>
            <a:solidFill>
              <a:srgbClr val="FFFFFF"/>
            </a:solidFill>
            <a:ln w="19050" cap="flat">
              <a:solidFill>
                <a:srgbClr val="03030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46" name="a:dedup-example 文字"/>
            <p:cNvSpPr txBox="1"/>
            <p:nvPr/>
          </p:nvSpPr>
          <p:spPr>
            <a:xfrm>
              <a:off x="2668904" y="5342001"/>
              <a:ext cx="79629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0" i="0">
                  <a:solidFill>
                    <a:srgbClr val="030303"/>
                  </a:solidFill>
                  <a:latin typeface="Helvetica Neue"/>
                  <a:ea typeface="Source Han Sans CN"/>
                </a:rPr>
                <a:t>link</a:t>
              </a:r>
            </a:p>
          </p:txBody>
        </p:sp>
        <p:sp>
          <p:nvSpPr>
            <p:cNvPr id="147" name="a:dedup-example 框"/>
            <p:cNvSpPr/>
            <p:nvPr/>
          </p:nvSpPr>
          <p:spPr>
            <a:xfrm>
              <a:off x="3390900" y="5486400"/>
              <a:ext cx="381000" cy="266700"/>
            </a:xfrm>
            <a:prstGeom prst="roundRect">
              <a:avLst>
                <a:gd name="adj" fmla="val 14285"/>
              </a:avLst>
            </a:prstGeom>
            <a:solidFill>
              <a:srgbClr val="C5E0B4"/>
            </a:solidFill>
            <a:ln w="15240" cap="flat">
              <a:solidFill>
                <a:srgbClr val="03030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48" name="a:dedup-example 文字"/>
            <p:cNvSpPr txBox="1"/>
            <p:nvPr/>
          </p:nvSpPr>
          <p:spPr>
            <a:xfrm>
              <a:off x="3227070" y="5342001"/>
              <a:ext cx="70866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1" i="0">
                  <a:solidFill>
                    <a:srgbClr val="030303"/>
                  </a:solidFill>
                  <a:latin typeface="Helvetica Neue"/>
                  <a:ea typeface="Source Han Sans CN"/>
                </a:rPr>
                <a:t>J2</a:t>
              </a:r>
            </a:p>
          </p:txBody>
        </p:sp>
        <p:sp>
          <p:nvSpPr>
            <p:cNvPr id="149" name="a:dedup-example 框"/>
            <p:cNvSpPr/>
            <p:nvPr/>
          </p:nvSpPr>
          <p:spPr>
            <a:xfrm>
              <a:off x="4000500" y="5486400"/>
              <a:ext cx="647700" cy="266700"/>
            </a:xfrm>
            <a:prstGeom prst="roundRect">
              <a:avLst>
                <a:gd name="adj" fmla="val 14285"/>
              </a:avLst>
            </a:prstGeom>
            <a:solidFill>
              <a:srgbClr val="FFFFFF"/>
            </a:solidFill>
            <a:ln w="19050" cap="flat">
              <a:solidFill>
                <a:srgbClr val="03030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50" name="a:dedup-example 文字"/>
            <p:cNvSpPr txBox="1"/>
            <p:nvPr/>
          </p:nvSpPr>
          <p:spPr>
            <a:xfrm>
              <a:off x="3855720" y="5342001"/>
              <a:ext cx="93726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0" i="0">
                  <a:solidFill>
                    <a:srgbClr val="030303"/>
                  </a:solidFill>
                  <a:latin typeface="Helvetica Neue"/>
                  <a:ea typeface="Source Han Sans CN"/>
                </a:rPr>
                <a:t>docs</a:t>
              </a:r>
            </a:p>
          </p:txBody>
        </p:sp>
        <p:sp>
          <p:nvSpPr>
            <p:cNvPr id="151" name="a:dedup-example 框"/>
            <p:cNvSpPr/>
            <p:nvPr/>
          </p:nvSpPr>
          <p:spPr>
            <a:xfrm>
              <a:off x="4724400" y="5486400"/>
              <a:ext cx="381000" cy="266700"/>
            </a:xfrm>
            <a:prstGeom prst="roundRect">
              <a:avLst>
                <a:gd name="adj" fmla="val 14285"/>
              </a:avLst>
            </a:prstGeom>
            <a:solidFill>
              <a:srgbClr val="F8CBAD"/>
            </a:solidFill>
            <a:ln w="15240" cap="flat">
              <a:solidFill>
                <a:srgbClr val="03030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52" name="a:dedup-example 文字"/>
            <p:cNvSpPr txBox="1"/>
            <p:nvPr/>
          </p:nvSpPr>
          <p:spPr>
            <a:xfrm>
              <a:off x="4560570" y="5342001"/>
              <a:ext cx="70866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1" i="0">
                  <a:solidFill>
                    <a:srgbClr val="030303"/>
                  </a:solidFill>
                  <a:latin typeface="Helvetica Neue"/>
                  <a:ea typeface="Source Han Sans CN"/>
                </a:rPr>
                <a:t>J3</a:t>
              </a:r>
            </a:p>
          </p:txBody>
        </p:sp>
      </p:grpSp>
      <p:grpSp>
        <p:nvGrpSpPr>
          <p:cNvPr id="193" name="legend 图例"/>
          <p:cNvGrpSpPr/>
          <p:nvPr/>
        </p:nvGrpSpPr>
        <p:grpSpPr>
          <a:xfrm>
            <a:off x="339090" y="8085201"/>
            <a:ext cx="8923020" cy="521970"/>
            <a:chOff x="339090" y="8085201"/>
            <a:chExt cx="8923020" cy="521970"/>
          </a:xfrm>
        </p:grpSpPr>
        <p:sp>
          <p:nvSpPr>
            <p:cNvPr id="153" name="legend 框"/>
            <p:cNvSpPr/>
            <p:nvPr/>
          </p:nvSpPr>
          <p:spPr>
            <a:xfrm>
              <a:off x="339090" y="8248650"/>
              <a:ext cx="127025" cy="228600"/>
            </a:xfrm>
            <a:prstGeom prst="rect">
              <a:avLst/>
            </a:prstGeom>
            <a:solidFill>
              <a:srgbClr val="E2F0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54" name="legend 框"/>
            <p:cNvSpPr/>
            <p:nvPr/>
          </p:nvSpPr>
          <p:spPr>
            <a:xfrm>
              <a:off x="466115" y="8248650"/>
              <a:ext cx="126987" cy="228600"/>
            </a:xfrm>
            <a:prstGeom prst="rect">
              <a:avLst/>
            </a:prstGeom>
            <a:solidFill>
              <a:srgbClr val="DDEB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55" name="legend 框"/>
            <p:cNvSpPr/>
            <p:nvPr/>
          </p:nvSpPr>
          <p:spPr>
            <a:xfrm>
              <a:off x="593102" y="8248650"/>
              <a:ext cx="126987" cy="228600"/>
            </a:xfrm>
            <a:prstGeom prst="rect">
              <a:avLst/>
            </a:prstGeom>
            <a:solidFill>
              <a:srgbClr val="FBE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56" name="legend 框"/>
            <p:cNvSpPr/>
            <p:nvPr/>
          </p:nvSpPr>
          <p:spPr>
            <a:xfrm>
              <a:off x="339090" y="8248650"/>
              <a:ext cx="381000" cy="228600"/>
            </a:xfrm>
            <a:prstGeom prst="roundRect">
              <a:avLst>
                <a:gd name="adj" fmla="val 16666"/>
              </a:avLst>
            </a:prstGeom>
            <a:noFill/>
            <a:ln w="19050" cap="flat">
              <a:solidFill>
                <a:srgbClr val="182C51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57" name="legend 文字"/>
            <p:cNvSpPr txBox="1"/>
            <p:nvPr/>
          </p:nvSpPr>
          <p:spPr>
            <a:xfrm>
              <a:off x="815339" y="8104251"/>
              <a:ext cx="203835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800" b="0" i="0">
                  <a:solidFill>
                    <a:srgbClr val="030303"/>
                  </a:solidFill>
                  <a:latin typeface="Helvetica Neue"/>
                  <a:ea typeface="Source Han Sans CN"/>
                </a:rPr>
                <a:t>Brickyard (new)</a:t>
              </a:r>
            </a:p>
          </p:txBody>
        </p:sp>
        <p:sp>
          <p:nvSpPr>
            <p:cNvPr id="158" name="legend 框"/>
            <p:cNvSpPr/>
            <p:nvPr/>
          </p:nvSpPr>
          <p:spPr>
            <a:xfrm>
              <a:off x="2625090" y="8248650"/>
              <a:ext cx="381000" cy="228600"/>
            </a:xfrm>
            <a:prstGeom prst="roundRect">
              <a:avLst>
                <a:gd name="adj" fmla="val 16666"/>
              </a:avLst>
            </a:prstGeom>
            <a:solidFill>
              <a:srgbClr val="FFFFFF"/>
            </a:solidFill>
            <a:ln w="19050" cap="flat">
              <a:solidFill>
                <a:srgbClr val="03030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59" name="legend 文字"/>
            <p:cNvSpPr txBox="1"/>
            <p:nvPr/>
          </p:nvSpPr>
          <p:spPr>
            <a:xfrm>
              <a:off x="3101340" y="8104251"/>
              <a:ext cx="122682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800" b="0" i="0">
                  <a:solidFill>
                    <a:srgbClr val="030303"/>
                  </a:solidFill>
                  <a:latin typeface="Helvetica Neue"/>
                  <a:ea typeface="Source Han Sans CN"/>
                </a:rPr>
                <a:t>existing</a:t>
              </a:r>
            </a:p>
          </p:txBody>
        </p:sp>
        <p:sp>
          <p:nvSpPr>
            <p:cNvPr id="160" name="legend 框"/>
            <p:cNvSpPr/>
            <p:nvPr/>
          </p:nvSpPr>
          <p:spPr>
            <a:xfrm>
              <a:off x="4099559" y="8229600"/>
              <a:ext cx="381000" cy="266700"/>
            </a:xfrm>
            <a:prstGeom prst="roundRect">
              <a:avLst>
                <a:gd name="adj" fmla="val 14285"/>
              </a:avLst>
            </a:prstGeom>
            <a:solidFill>
              <a:srgbClr val="9DC3E6"/>
            </a:solidFill>
            <a:ln w="15240" cap="flat">
              <a:solidFill>
                <a:srgbClr val="03030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61" name="legend 文字"/>
            <p:cNvSpPr txBox="1"/>
            <p:nvPr/>
          </p:nvSpPr>
          <p:spPr>
            <a:xfrm>
              <a:off x="3935729" y="8085201"/>
              <a:ext cx="70866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1" i="0">
                  <a:solidFill>
                    <a:srgbClr val="030303"/>
                  </a:solidFill>
                  <a:latin typeface="Helvetica Neue"/>
                  <a:ea typeface="Source Han Sans CN"/>
                </a:rPr>
                <a:t>J1</a:t>
              </a:r>
            </a:p>
          </p:txBody>
        </p:sp>
        <p:sp>
          <p:nvSpPr>
            <p:cNvPr id="162" name="legend 文字"/>
            <p:cNvSpPr txBox="1"/>
            <p:nvPr/>
          </p:nvSpPr>
          <p:spPr>
            <a:xfrm>
              <a:off x="4575809" y="8104251"/>
              <a:ext cx="137160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800" b="0" i="0">
                  <a:solidFill>
                    <a:srgbClr val="030303"/>
                  </a:solidFill>
                  <a:latin typeface="Helvetica Neue"/>
                  <a:ea typeface="Source Han Sans CN"/>
                </a:rPr>
                <a:t>unit tests</a:t>
              </a:r>
            </a:p>
          </p:txBody>
        </p:sp>
        <p:sp>
          <p:nvSpPr>
            <p:cNvPr id="163" name="legend 框"/>
            <p:cNvSpPr/>
            <p:nvPr/>
          </p:nvSpPr>
          <p:spPr>
            <a:xfrm>
              <a:off x="5718809" y="8229600"/>
              <a:ext cx="381000" cy="266700"/>
            </a:xfrm>
            <a:prstGeom prst="roundRect">
              <a:avLst>
                <a:gd name="adj" fmla="val 14285"/>
              </a:avLst>
            </a:prstGeom>
            <a:solidFill>
              <a:srgbClr val="C5E0B4"/>
            </a:solidFill>
            <a:ln w="15240" cap="flat">
              <a:solidFill>
                <a:srgbClr val="03030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64" name="legend 文字"/>
            <p:cNvSpPr txBox="1"/>
            <p:nvPr/>
          </p:nvSpPr>
          <p:spPr>
            <a:xfrm>
              <a:off x="5554980" y="8085201"/>
              <a:ext cx="70866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1" i="0">
                  <a:solidFill>
                    <a:srgbClr val="030303"/>
                  </a:solidFill>
                  <a:latin typeface="Helvetica Neue"/>
                  <a:ea typeface="Source Han Sans CN"/>
                </a:rPr>
                <a:t>J2</a:t>
              </a:r>
            </a:p>
          </p:txBody>
        </p:sp>
        <p:sp>
          <p:nvSpPr>
            <p:cNvPr id="165" name="legend 文字"/>
            <p:cNvSpPr txBox="1"/>
            <p:nvPr/>
          </p:nvSpPr>
          <p:spPr>
            <a:xfrm>
              <a:off x="6195059" y="8104251"/>
              <a:ext cx="1882139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800" b="0" i="0">
                  <a:solidFill>
                    <a:srgbClr val="030303"/>
                  </a:solidFill>
                  <a:latin typeface="Helvetica Neue"/>
                  <a:ea typeface="Source Han Sans CN"/>
                </a:rPr>
                <a:t>release binary</a:t>
              </a:r>
            </a:p>
          </p:txBody>
        </p:sp>
        <p:sp>
          <p:nvSpPr>
            <p:cNvPr id="166" name="legend 框"/>
            <p:cNvSpPr/>
            <p:nvPr/>
          </p:nvSpPr>
          <p:spPr>
            <a:xfrm>
              <a:off x="7848600" y="8229600"/>
              <a:ext cx="381000" cy="266700"/>
            </a:xfrm>
            <a:prstGeom prst="roundRect">
              <a:avLst>
                <a:gd name="adj" fmla="val 14285"/>
              </a:avLst>
            </a:prstGeom>
            <a:solidFill>
              <a:srgbClr val="F8CBAD"/>
            </a:solidFill>
            <a:ln w="15240" cap="flat">
              <a:solidFill>
                <a:srgbClr val="030303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67" name="legend 文字"/>
            <p:cNvSpPr txBox="1"/>
            <p:nvPr/>
          </p:nvSpPr>
          <p:spPr>
            <a:xfrm>
              <a:off x="7684769" y="8085201"/>
              <a:ext cx="70866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1" i="0">
                  <a:solidFill>
                    <a:srgbClr val="030303"/>
                  </a:solidFill>
                  <a:latin typeface="Helvetica Neue"/>
                  <a:ea typeface="Source Han Sans CN"/>
                </a:rPr>
                <a:t>J3</a:t>
              </a:r>
            </a:p>
          </p:txBody>
        </p:sp>
        <p:sp>
          <p:nvSpPr>
            <p:cNvPr id="168" name="legend 文字"/>
            <p:cNvSpPr txBox="1"/>
            <p:nvPr/>
          </p:nvSpPr>
          <p:spPr>
            <a:xfrm>
              <a:off x="8324850" y="8104251"/>
              <a:ext cx="93726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800" b="0" i="0">
                  <a:solidFill>
                    <a:srgbClr val="030303"/>
                  </a:solidFill>
                  <a:latin typeface="Helvetica Neue"/>
                  <a:ea typeface="Source Han Sans CN"/>
                </a:rPr>
                <a:t>docs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