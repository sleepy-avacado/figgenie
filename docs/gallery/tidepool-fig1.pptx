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7086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3" name="l:control-plane Control Plane"/>
          <p:cNvGrpSpPr/>
          <p:nvPr/>
        </p:nvGrpSpPr>
        <p:grpSpPr>
          <a:xfrm>
            <a:off x="-775525" y="762000"/>
            <a:ext cx="9843325" cy="1981200"/>
            <a:chOff x="-775525" y="762000"/>
            <a:chExt cx="9843325" cy="1981200"/>
          </a:xfrm>
        </p:grpSpPr>
        <p:sp>
          <p:nvSpPr>
            <p:cNvPr id="2" name="l:control-plane 框"/>
            <p:cNvSpPr/>
            <p:nvPr/>
          </p:nvSpPr>
          <p:spPr>
            <a:xfrm>
              <a:off x="76200" y="762000"/>
              <a:ext cx="8991600" cy="1981200"/>
            </a:xfrm>
            <a:prstGeom prst="roundRect">
              <a:avLst>
                <a:gd name="adj" fmla="val 2884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3" name="l:control-plane 文字"/>
            <p:cNvSpPr txBox="1"/>
            <p:nvPr/>
          </p:nvSpPr>
          <p:spPr>
            <a:xfrm rot="16200000">
              <a:off x="-775525" y="1459230"/>
              <a:ext cx="2266950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2100" b="1" i="0">
                  <a:solidFill>
                    <a:srgbClr val="262626"/>
                  </a:solidFill>
                  <a:latin typeface="Helvetica Neue"/>
                  <a:ea typeface="Source Han Sans CN"/>
                </a:rPr>
                <a:t>Control Plane</a:t>
              </a:r>
            </a:p>
          </p:txBody>
        </p:sp>
      </p:grpSp>
      <p:grpSp>
        <p:nvGrpSpPr>
          <p:cNvPr id="104" name="l:data-plane Data Plane"/>
          <p:cNvGrpSpPr/>
          <p:nvPr/>
        </p:nvGrpSpPr>
        <p:grpSpPr>
          <a:xfrm>
            <a:off x="-590740" y="2895600"/>
            <a:ext cx="9658540" cy="4076700"/>
            <a:chOff x="-590740" y="2895600"/>
            <a:chExt cx="9658540" cy="4076700"/>
          </a:xfrm>
        </p:grpSpPr>
        <p:sp>
          <p:nvSpPr>
            <p:cNvPr id="4" name="l:data-plane 框"/>
            <p:cNvSpPr/>
            <p:nvPr/>
          </p:nvSpPr>
          <p:spPr>
            <a:xfrm>
              <a:off x="76200" y="2895600"/>
              <a:ext cx="8991600" cy="4076700"/>
            </a:xfrm>
            <a:prstGeom prst="roundRect">
              <a:avLst>
                <a:gd name="adj" fmla="val 1401"/>
              </a:avLst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" name="l:data-plane 文字"/>
            <p:cNvSpPr txBox="1"/>
            <p:nvPr/>
          </p:nvSpPr>
          <p:spPr>
            <a:xfrm rot="16200000">
              <a:off x="-590740" y="4640580"/>
              <a:ext cx="1897379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2100" b="1" i="0">
                  <a:solidFill>
                    <a:srgbClr val="262626"/>
                  </a:solidFill>
                  <a:latin typeface="Helvetica Neue"/>
                  <a:ea typeface="Source Han Sans CN"/>
                </a:rPr>
                <a:t>Data Plane</a:t>
              </a:r>
            </a:p>
          </p:txBody>
        </p:sp>
        <p:sp>
          <p:nvSpPr>
            <p:cNvPr id="6" name="l:data-plane 框"/>
            <p:cNvSpPr/>
            <p:nvPr/>
          </p:nvSpPr>
          <p:spPr>
            <a:xfrm>
              <a:off x="609600" y="3657600"/>
              <a:ext cx="365760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22859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" name="l:data-plane 框"/>
            <p:cNvSpPr/>
            <p:nvPr/>
          </p:nvSpPr>
          <p:spPr>
            <a:xfrm>
              <a:off x="723900" y="3543300"/>
              <a:ext cx="365760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22859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" name="l:data-plane 框"/>
            <p:cNvSpPr/>
            <p:nvPr/>
          </p:nvSpPr>
          <p:spPr>
            <a:xfrm>
              <a:off x="5257800" y="3657600"/>
              <a:ext cx="365760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22859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9" name="l:data-plane 框"/>
            <p:cNvSpPr/>
            <p:nvPr/>
          </p:nvSpPr>
          <p:spPr>
            <a:xfrm>
              <a:off x="5143500" y="3543300"/>
              <a:ext cx="365760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22859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</p:grpSp>
      <p:grpSp>
        <p:nvGrpSpPr>
          <p:cNvPr id="105" name="c:prefill-instance Prefill Instance"/>
          <p:cNvGrpSpPr/>
          <p:nvPr/>
        </p:nvGrpSpPr>
        <p:grpSpPr>
          <a:xfrm>
            <a:off x="838200" y="3429000"/>
            <a:ext cx="3657600" cy="1257300"/>
            <a:chOff x="838200" y="3429000"/>
            <a:chExt cx="3657600" cy="1257300"/>
          </a:xfrm>
        </p:grpSpPr>
        <p:sp>
          <p:nvSpPr>
            <p:cNvPr id="10" name="c:prefill-instance 框"/>
            <p:cNvSpPr/>
            <p:nvPr/>
          </p:nvSpPr>
          <p:spPr>
            <a:xfrm>
              <a:off x="838200" y="3429000"/>
              <a:ext cx="365760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22859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1" name="c:prefill-instance 文字"/>
            <p:cNvSpPr txBox="1"/>
            <p:nvPr/>
          </p:nvSpPr>
          <p:spPr>
            <a:xfrm>
              <a:off x="2202179" y="3571684"/>
              <a:ext cx="2282190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210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Prefill Instance</a:t>
              </a:r>
            </a:p>
          </p:txBody>
        </p:sp>
        <p:sp>
          <p:nvSpPr>
            <p:cNvPr id="12" name="c:prefill-instance 文字"/>
            <p:cNvSpPr txBox="1"/>
            <p:nvPr/>
          </p:nvSpPr>
          <p:spPr>
            <a:xfrm>
              <a:off x="2933700" y="3923442"/>
              <a:ext cx="81915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262626"/>
                  </a:solidFill>
                  <a:latin typeface="Helvetica Neue"/>
                  <a:ea typeface="Helvetica Neue"/>
                </a:rPr>
                <a:t>×N</a:t>
              </a:r>
            </a:p>
          </p:txBody>
        </p:sp>
      </p:grpSp>
      <p:grpSp>
        <p:nvGrpSpPr>
          <p:cNvPr id="106" name="c:decode-instance Decode Instance"/>
          <p:cNvGrpSpPr/>
          <p:nvPr/>
        </p:nvGrpSpPr>
        <p:grpSpPr>
          <a:xfrm>
            <a:off x="4914900" y="3429000"/>
            <a:ext cx="3771900" cy="1257300"/>
            <a:chOff x="4914900" y="3429000"/>
            <a:chExt cx="3771900" cy="1257300"/>
          </a:xfrm>
        </p:grpSpPr>
        <p:sp>
          <p:nvSpPr>
            <p:cNvPr id="13" name="c:decode-instance 框"/>
            <p:cNvSpPr/>
            <p:nvPr/>
          </p:nvSpPr>
          <p:spPr>
            <a:xfrm>
              <a:off x="5029200" y="3429000"/>
              <a:ext cx="3657600" cy="12573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 w="22859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4" name="c:decode-instance 文字"/>
            <p:cNvSpPr txBox="1"/>
            <p:nvPr/>
          </p:nvSpPr>
          <p:spPr>
            <a:xfrm>
              <a:off x="4914900" y="3571684"/>
              <a:ext cx="2533650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210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Decode Instance</a:t>
              </a:r>
            </a:p>
          </p:txBody>
        </p:sp>
        <p:sp>
          <p:nvSpPr>
            <p:cNvPr id="15" name="c:decode-instance 文字"/>
            <p:cNvSpPr txBox="1"/>
            <p:nvPr/>
          </p:nvSpPr>
          <p:spPr>
            <a:xfrm>
              <a:off x="5772150" y="3923442"/>
              <a:ext cx="81915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262626"/>
                  </a:solidFill>
                  <a:latin typeface="Helvetica Neue"/>
                  <a:ea typeface="Helvetica Neue"/>
                </a:rPr>
                <a:t>×N</a:t>
              </a:r>
            </a:p>
          </p:txBody>
        </p:sp>
      </p:grpSp>
      <p:grpSp>
        <p:nvGrpSpPr>
          <p:cNvPr id="107" name="e:e-prompt-in client→request-router"/>
          <p:cNvGrpSpPr/>
          <p:nvPr/>
        </p:nvGrpSpPr>
        <p:grpSpPr>
          <a:xfrm>
            <a:off x="6297930" y="628650"/>
            <a:ext cx="1360170" cy="762000"/>
            <a:chOff x="6297930" y="628650"/>
            <a:chExt cx="1360170" cy="762000"/>
          </a:xfrm>
        </p:grpSpPr>
        <p:cxnSp>
          <p:nvCxnSpPr>
            <p:cNvPr id="16" name="e:e-prompt-in 线"/>
            <p:cNvCxnSpPr/>
            <p:nvPr/>
          </p:nvCxnSpPr>
          <p:spPr>
            <a:xfrm>
              <a:off x="7658100" y="628650"/>
              <a:ext cx="0" cy="762000"/>
            </a:xfrm>
            <a:prstGeom prst="line">
              <a:avLst/>
            </a:prstGeom>
            <a:ln w="30480" cap="flat">
              <a:solidFill>
                <a:srgbClr val="262626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e:e-prompt-in 文字"/>
            <p:cNvSpPr txBox="1"/>
            <p:nvPr/>
          </p:nvSpPr>
          <p:spPr>
            <a:xfrm>
              <a:off x="6297930" y="723042"/>
              <a:ext cx="126492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prompt</a:t>
              </a:r>
            </a:p>
          </p:txBody>
        </p:sp>
      </p:grpSp>
      <p:grpSp>
        <p:nvGrpSpPr>
          <p:cNvPr id="108" name="e:e-tokens-out request-router→client"/>
          <p:cNvGrpSpPr/>
          <p:nvPr/>
        </p:nvGrpSpPr>
        <p:grpSpPr>
          <a:xfrm>
            <a:off x="7962900" y="628650"/>
            <a:ext cx="1322070" cy="781050"/>
            <a:chOff x="7962900" y="628650"/>
            <a:chExt cx="1322070" cy="781050"/>
          </a:xfrm>
        </p:grpSpPr>
        <p:cxnSp>
          <p:nvCxnSpPr>
            <p:cNvPr id="18" name="e:e-tokens-out 线"/>
            <p:cNvCxnSpPr/>
            <p:nvPr/>
          </p:nvCxnSpPr>
          <p:spPr>
            <a:xfrm flipV="1">
              <a:off x="7962900" y="628650"/>
              <a:ext cx="0" cy="781050"/>
            </a:xfrm>
            <a:prstGeom prst="line">
              <a:avLst/>
            </a:prstGeom>
            <a:ln w="30480" cap="flat">
              <a:solidFill>
                <a:srgbClr val="262626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e:e-tokens-out 文字"/>
            <p:cNvSpPr txBox="1"/>
            <p:nvPr/>
          </p:nvSpPr>
          <p:spPr>
            <a:xfrm>
              <a:off x="8058150" y="723042"/>
              <a:ext cx="122682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tokens</a:t>
              </a:r>
            </a:p>
          </p:txBody>
        </p:sp>
      </p:grpSp>
      <p:cxnSp>
        <p:nvCxnSpPr>
          <p:cNvPr id="20" name="e:e-prompt-fwd 线"/>
          <p:cNvCxnSpPr/>
          <p:nvPr/>
        </p:nvCxnSpPr>
        <p:spPr>
          <a:xfrm flipH="1">
            <a:off x="5848350" y="1752600"/>
            <a:ext cx="857250" cy="0"/>
          </a:xfrm>
          <a:prstGeom prst="line">
            <a:avLst/>
          </a:prstGeom>
          <a:ln w="30480" cap="flat">
            <a:solidFill>
              <a:srgbClr val="262626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e:e-lookup tide-scheduler→kv-directory"/>
          <p:cNvGrpSpPr/>
          <p:nvPr/>
        </p:nvGrpSpPr>
        <p:grpSpPr>
          <a:xfrm>
            <a:off x="2646045" y="1732692"/>
            <a:ext cx="1223010" cy="544830"/>
            <a:chOff x="2646045" y="1732692"/>
            <a:chExt cx="1223010" cy="544830"/>
          </a:xfrm>
        </p:grpSpPr>
        <p:cxnSp>
          <p:nvCxnSpPr>
            <p:cNvPr id="21" name="e:e-lookup 线"/>
            <p:cNvCxnSpPr/>
            <p:nvPr/>
          </p:nvCxnSpPr>
          <p:spPr>
            <a:xfrm flipH="1">
              <a:off x="2838450" y="1752600"/>
              <a:ext cx="857250" cy="0"/>
            </a:xfrm>
            <a:prstGeom prst="line">
              <a:avLst/>
            </a:prstGeom>
            <a:ln w="30480" cap="flat">
              <a:solidFill>
                <a:srgbClr val="262626"/>
              </a:solidFill>
              <a:custDash>
                <a:ds d="374999" sp="249999"/>
              </a:custDash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e:e-lookup 文字"/>
            <p:cNvSpPr txBox="1"/>
            <p:nvPr/>
          </p:nvSpPr>
          <p:spPr>
            <a:xfrm>
              <a:off x="2646045" y="1732692"/>
              <a:ext cx="122301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lookup</a:t>
              </a:r>
            </a:p>
          </p:txBody>
        </p:sp>
      </p:grpSp>
      <p:grpSp>
        <p:nvGrpSpPr>
          <p:cNvPr id="110" name="e:e-dispatch tide-scheduler→prefill-instance"/>
          <p:cNvGrpSpPr/>
          <p:nvPr/>
        </p:nvGrpSpPr>
        <p:grpSpPr>
          <a:xfrm>
            <a:off x="2602230" y="2095500"/>
            <a:ext cx="1512570" cy="1314450"/>
            <a:chOff x="2602230" y="2095500"/>
            <a:chExt cx="1512570" cy="1314450"/>
          </a:xfrm>
        </p:grpSpPr>
        <p:cxnSp>
          <p:nvCxnSpPr>
            <p:cNvPr id="23" name="e:e-dispatch 线"/>
            <p:cNvCxnSpPr/>
            <p:nvPr/>
          </p:nvCxnSpPr>
          <p:spPr>
            <a:xfrm>
              <a:off x="4114800" y="2095500"/>
              <a:ext cx="0" cy="1314450"/>
            </a:xfrm>
            <a:prstGeom prst="line">
              <a:avLst/>
            </a:prstGeom>
            <a:ln w="30480" cap="flat">
              <a:solidFill>
                <a:srgbClr val="262626"/>
              </a:solidFill>
              <a:custDash>
                <a:ds d="374999" sp="249999"/>
              </a:custDash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e:e-dispatch 文字"/>
            <p:cNvSpPr txBox="1"/>
            <p:nvPr/>
          </p:nvSpPr>
          <p:spPr>
            <a:xfrm>
              <a:off x="2602230" y="2856642"/>
              <a:ext cx="141732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dispatch</a:t>
              </a:r>
            </a:p>
          </p:txBody>
        </p:sp>
      </p:grpSp>
      <p:grpSp>
        <p:nvGrpSpPr>
          <p:cNvPr id="111" name="e:e-assign tide-scheduler→decode-instance"/>
          <p:cNvGrpSpPr/>
          <p:nvPr/>
        </p:nvGrpSpPr>
        <p:grpSpPr>
          <a:xfrm>
            <a:off x="5410200" y="2095500"/>
            <a:ext cx="1306830" cy="1314450"/>
            <a:chOff x="5410200" y="2095500"/>
            <a:chExt cx="1306830" cy="1314450"/>
          </a:xfrm>
        </p:grpSpPr>
        <p:cxnSp>
          <p:nvCxnSpPr>
            <p:cNvPr id="25" name="e:e-assign 线"/>
            <p:cNvCxnSpPr/>
            <p:nvPr/>
          </p:nvCxnSpPr>
          <p:spPr>
            <a:xfrm>
              <a:off x="5410200" y="2095500"/>
              <a:ext cx="0" cy="1314450"/>
            </a:xfrm>
            <a:prstGeom prst="line">
              <a:avLst/>
            </a:prstGeom>
            <a:ln w="30480" cap="flat">
              <a:solidFill>
                <a:srgbClr val="262626"/>
              </a:solidFill>
              <a:custDash>
                <a:ds d="374999" sp="249999"/>
              </a:custDash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e:e-assign 文字"/>
            <p:cNvSpPr txBox="1"/>
            <p:nvPr/>
          </p:nvSpPr>
          <p:spPr>
            <a:xfrm>
              <a:off x="5505450" y="2856642"/>
              <a:ext cx="121158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assign</a:t>
              </a:r>
            </a:p>
          </p:txBody>
        </p:sp>
      </p:grpSp>
      <p:cxnSp>
        <p:nvCxnSpPr>
          <p:cNvPr id="27" name="e:e-tokens 线"/>
          <p:cNvCxnSpPr/>
          <p:nvPr/>
        </p:nvCxnSpPr>
        <p:spPr>
          <a:xfrm flipV="1">
            <a:off x="7010400" y="2114550"/>
            <a:ext cx="0" cy="1314450"/>
          </a:xfrm>
          <a:prstGeom prst="line">
            <a:avLst/>
          </a:prstGeom>
          <a:ln w="30480" cap="flat">
            <a:solidFill>
              <a:srgbClr val="262626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2" name="e:e-update-prefill te-prefill→kv-directory"/>
          <p:cNvGrpSpPr/>
          <p:nvPr/>
        </p:nvGrpSpPr>
        <p:grpSpPr>
          <a:xfrm>
            <a:off x="1562100" y="2457450"/>
            <a:ext cx="1344930" cy="1066800"/>
            <a:chOff x="1562100" y="2457450"/>
            <a:chExt cx="1344930" cy="1066800"/>
          </a:xfrm>
        </p:grpSpPr>
        <p:cxnSp>
          <p:nvCxnSpPr>
            <p:cNvPr id="28" name="e:e-update-prefill 线"/>
            <p:cNvCxnSpPr/>
            <p:nvPr/>
          </p:nvCxnSpPr>
          <p:spPr>
            <a:xfrm flipV="1">
              <a:off x="1562100" y="2457450"/>
              <a:ext cx="0" cy="1066800"/>
            </a:xfrm>
            <a:prstGeom prst="line">
              <a:avLst/>
            </a:prstGeom>
            <a:ln w="30480" cap="flat">
              <a:solidFill>
                <a:srgbClr val="262626"/>
              </a:solidFill>
              <a:custDash>
                <a:ds d="374999" sp="249999"/>
              </a:custDash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e:e-update-prefill 文字"/>
            <p:cNvSpPr txBox="1"/>
            <p:nvPr/>
          </p:nvSpPr>
          <p:spPr>
            <a:xfrm>
              <a:off x="1657350" y="2856642"/>
              <a:ext cx="124968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update</a:t>
              </a:r>
            </a:p>
          </p:txBody>
        </p:sp>
      </p:grpSp>
      <p:grpSp>
        <p:nvGrpSpPr>
          <p:cNvPr id="113" name="e:e-stream te-prefill→kv-cache-pool"/>
          <p:cNvGrpSpPr/>
          <p:nvPr/>
        </p:nvGrpSpPr>
        <p:grpSpPr>
          <a:xfrm>
            <a:off x="1562100" y="4591050"/>
            <a:ext cx="2541269" cy="990600"/>
            <a:chOff x="1562100" y="4591050"/>
            <a:chExt cx="2541269" cy="990600"/>
          </a:xfrm>
        </p:grpSpPr>
        <p:cxnSp>
          <p:nvCxnSpPr>
            <p:cNvPr id="30" name="e:e-stream 线"/>
            <p:cNvCxnSpPr/>
            <p:nvPr/>
          </p:nvCxnSpPr>
          <p:spPr>
            <a:xfrm>
              <a:off x="1562100" y="4591050"/>
              <a:ext cx="0" cy="990600"/>
            </a:xfrm>
            <a:prstGeom prst="line">
              <a:avLst/>
            </a:prstGeom>
            <a:ln w="57150" cap="flat">
              <a:solidFill>
                <a:srgbClr val="ED7D31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e:e-stream 文字"/>
            <p:cNvSpPr txBox="1"/>
            <p:nvPr/>
          </p:nvSpPr>
          <p:spPr>
            <a:xfrm>
              <a:off x="2133599" y="4948332"/>
              <a:ext cx="196977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layer by layer</a:t>
              </a:r>
            </a:p>
          </p:txBody>
        </p:sp>
      </p:grpSp>
      <p:grpSp>
        <p:nvGrpSpPr>
          <p:cNvPr id="114" name="e:e-pull kv-cache-pool→te-decode"/>
          <p:cNvGrpSpPr/>
          <p:nvPr/>
        </p:nvGrpSpPr>
        <p:grpSpPr>
          <a:xfrm>
            <a:off x="5661659" y="4610100"/>
            <a:ext cx="2301241" cy="990600"/>
            <a:chOff x="5661659" y="4610100"/>
            <a:chExt cx="2301241" cy="990600"/>
          </a:xfrm>
        </p:grpSpPr>
        <p:cxnSp>
          <p:nvCxnSpPr>
            <p:cNvPr id="32" name="e:e-pull 线"/>
            <p:cNvCxnSpPr/>
            <p:nvPr/>
          </p:nvCxnSpPr>
          <p:spPr>
            <a:xfrm flipV="1">
              <a:off x="7962900" y="4610100"/>
              <a:ext cx="0" cy="990600"/>
            </a:xfrm>
            <a:prstGeom prst="line">
              <a:avLst/>
            </a:prstGeom>
            <a:ln w="57150" cap="flat">
              <a:solidFill>
                <a:srgbClr val="ED7D31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e:e-pull 文字"/>
            <p:cNvSpPr txBox="1"/>
            <p:nvPr/>
          </p:nvSpPr>
          <p:spPr>
            <a:xfrm>
              <a:off x="5661659" y="4948332"/>
              <a:ext cx="172973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r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on demand</a:t>
              </a:r>
            </a:p>
          </p:txBody>
        </p:sp>
      </p:grpSp>
      <p:grpSp>
        <p:nvGrpSpPr>
          <p:cNvPr id="115" name="n:client Client"/>
          <p:cNvGrpSpPr/>
          <p:nvPr/>
        </p:nvGrpSpPr>
        <p:grpSpPr>
          <a:xfrm>
            <a:off x="7586400" y="9334"/>
            <a:ext cx="1824300" cy="599161"/>
            <a:chOff x="7586400" y="9334"/>
            <a:chExt cx="1824300" cy="599161"/>
          </a:xfrm>
        </p:grpSpPr>
        <p:sp>
          <p:nvSpPr>
            <p:cNvPr id="34" name="n:client 线"/>
            <p:cNvSpPr/>
            <p:nvPr/>
          </p:nvSpPr>
          <p:spPr>
            <a:xfrm>
              <a:off x="7586400" y="114990"/>
              <a:ext cx="448695" cy="493505"/>
            </a:xfrm>
            <a:custGeom>
              <a:avLst/>
              <a:gdLst/>
              <a:ahLst/>
              <a:cxnLst/>
              <a:rect l="0" t="0" r="r" b="b"/>
              <a:pathLst>
                <a:path w="11776" h="12952">
                  <a:moveTo>
                    <a:pt x="596" y="12365"/>
                  </a:moveTo>
                  <a:cubicBezTo>
                    <a:pt x="743" y="9445"/>
                    <a:pt x="3062" y="7119"/>
                    <a:pt x="5888" y="7119"/>
                  </a:cubicBezTo>
                  <a:cubicBezTo>
                    <a:pt x="6844" y="7119"/>
                    <a:pt x="7782" y="7386"/>
                    <a:pt x="8598" y="7896"/>
                  </a:cubicBezTo>
                  <a:cubicBezTo>
                    <a:pt x="10114" y="8842"/>
                    <a:pt x="11085" y="10533"/>
                    <a:pt x="11178" y="12365"/>
                  </a:cubicBezTo>
                  <a:lnTo>
                    <a:pt x="596" y="12365"/>
                  </a:lnTo>
                  <a:close/>
                  <a:moveTo>
                    <a:pt x="3000" y="3497"/>
                  </a:moveTo>
                  <a:cubicBezTo>
                    <a:pt x="3000" y="1894"/>
                    <a:pt x="4295" y="588"/>
                    <a:pt x="5888" y="588"/>
                  </a:cubicBezTo>
                  <a:cubicBezTo>
                    <a:pt x="7482" y="588"/>
                    <a:pt x="8774" y="1894"/>
                    <a:pt x="8774" y="3497"/>
                  </a:cubicBezTo>
                  <a:cubicBezTo>
                    <a:pt x="8774" y="5101"/>
                    <a:pt x="7482" y="6404"/>
                    <a:pt x="5888" y="6404"/>
                  </a:cubicBezTo>
                  <a:cubicBezTo>
                    <a:pt x="4295" y="6404"/>
                    <a:pt x="3000" y="5101"/>
                    <a:pt x="3000" y="3497"/>
                  </a:cubicBezTo>
                  <a:close/>
                  <a:moveTo>
                    <a:pt x="8909" y="7396"/>
                  </a:moveTo>
                  <a:cubicBezTo>
                    <a:pt x="8399" y="7077"/>
                    <a:pt x="7847" y="6847"/>
                    <a:pt x="7272" y="6704"/>
                  </a:cubicBezTo>
                  <a:cubicBezTo>
                    <a:pt x="8502" y="6163"/>
                    <a:pt x="9365" y="4930"/>
                    <a:pt x="9365" y="3497"/>
                  </a:cubicBezTo>
                  <a:cubicBezTo>
                    <a:pt x="9365" y="1570"/>
                    <a:pt x="7805" y="0"/>
                    <a:pt x="5888" y="0"/>
                  </a:cubicBezTo>
                  <a:cubicBezTo>
                    <a:pt x="3971" y="0"/>
                    <a:pt x="2412" y="1570"/>
                    <a:pt x="2412" y="3497"/>
                  </a:cubicBezTo>
                  <a:cubicBezTo>
                    <a:pt x="2412" y="4932"/>
                    <a:pt x="3277" y="6168"/>
                    <a:pt x="4510" y="6704"/>
                  </a:cubicBezTo>
                  <a:cubicBezTo>
                    <a:pt x="1927" y="7355"/>
                    <a:pt x="0" y="9774"/>
                    <a:pt x="0" y="12658"/>
                  </a:cubicBezTo>
                  <a:cubicBezTo>
                    <a:pt x="0" y="12821"/>
                    <a:pt x="132" y="12953"/>
                    <a:pt x="295" y="12953"/>
                  </a:cubicBezTo>
                  <a:lnTo>
                    <a:pt x="11481" y="12953"/>
                  </a:lnTo>
                  <a:cubicBezTo>
                    <a:pt x="11645" y="12953"/>
                    <a:pt x="11777" y="12821"/>
                    <a:pt x="11777" y="12658"/>
                  </a:cubicBezTo>
                  <a:cubicBezTo>
                    <a:pt x="11777" y="10515"/>
                    <a:pt x="10678" y="8500"/>
                    <a:pt x="8909" y="7396"/>
                  </a:cubicBez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:client 文字"/>
            <p:cNvSpPr txBox="1"/>
            <p:nvPr/>
          </p:nvSpPr>
          <p:spPr>
            <a:xfrm>
              <a:off x="8191500" y="9334"/>
              <a:ext cx="1219200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210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Client</a:t>
              </a:r>
            </a:p>
          </p:txBody>
        </p:sp>
      </p:grpSp>
      <p:grpSp>
        <p:nvGrpSpPr>
          <p:cNvPr id="116" name="n:request-router Request Router"/>
          <p:cNvGrpSpPr/>
          <p:nvPr/>
        </p:nvGrpSpPr>
        <p:grpSpPr>
          <a:xfrm>
            <a:off x="6610350" y="1409700"/>
            <a:ext cx="2400300" cy="685800"/>
            <a:chOff x="6610350" y="1409700"/>
            <a:chExt cx="2400300" cy="685800"/>
          </a:xfrm>
        </p:grpSpPr>
        <p:sp>
          <p:nvSpPr>
            <p:cNvPr id="36" name="n:request-router 框"/>
            <p:cNvSpPr/>
            <p:nvPr/>
          </p:nvSpPr>
          <p:spPr>
            <a:xfrm>
              <a:off x="6705600" y="1409700"/>
              <a:ext cx="2209800" cy="6858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22859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37" name="n:request-router 文字"/>
            <p:cNvSpPr txBox="1"/>
            <p:nvPr/>
          </p:nvSpPr>
          <p:spPr>
            <a:xfrm>
              <a:off x="6610350" y="1428559"/>
              <a:ext cx="2400300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210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Request Router</a:t>
              </a:r>
            </a:p>
          </p:txBody>
        </p:sp>
      </p:grpSp>
      <p:grpSp>
        <p:nvGrpSpPr>
          <p:cNvPr id="117" name="n:tide-scheduler Tide Scheduler"/>
          <p:cNvGrpSpPr/>
          <p:nvPr/>
        </p:nvGrpSpPr>
        <p:grpSpPr>
          <a:xfrm>
            <a:off x="3596640" y="1409700"/>
            <a:ext cx="2331720" cy="685800"/>
            <a:chOff x="3596640" y="1409700"/>
            <a:chExt cx="2331720" cy="685800"/>
          </a:xfrm>
        </p:grpSpPr>
        <p:sp>
          <p:nvSpPr>
            <p:cNvPr id="38" name="n:tide-scheduler 框"/>
            <p:cNvSpPr/>
            <p:nvPr/>
          </p:nvSpPr>
          <p:spPr>
            <a:xfrm>
              <a:off x="3695700" y="1409700"/>
              <a:ext cx="2133600" cy="685800"/>
            </a:xfrm>
            <a:prstGeom prst="roundRect">
              <a:avLst>
                <a:gd name="adj" fmla="val 8333"/>
              </a:avLst>
            </a:prstGeom>
            <a:solidFill>
              <a:srgbClr val="E2F0D9"/>
            </a:solidFill>
            <a:ln w="22859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39" name="n:tide-scheduler 文字"/>
            <p:cNvSpPr txBox="1"/>
            <p:nvPr/>
          </p:nvSpPr>
          <p:spPr>
            <a:xfrm>
              <a:off x="3596640" y="1428559"/>
              <a:ext cx="2331720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210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Tide Scheduler</a:t>
              </a:r>
            </a:p>
          </p:txBody>
        </p:sp>
      </p:grpSp>
      <p:grpSp>
        <p:nvGrpSpPr>
          <p:cNvPr id="118" name="n:kv-directory KV Directory"/>
          <p:cNvGrpSpPr/>
          <p:nvPr/>
        </p:nvGrpSpPr>
        <p:grpSpPr>
          <a:xfrm>
            <a:off x="609600" y="1066800"/>
            <a:ext cx="2209800" cy="1371600"/>
            <a:chOff x="609600" y="1066800"/>
            <a:chExt cx="2209800" cy="1371600"/>
          </a:xfrm>
        </p:grpSpPr>
        <p:sp>
          <p:nvSpPr>
            <p:cNvPr id="40" name="n:kv-directory 线"/>
            <p:cNvSpPr/>
            <p:nvPr/>
          </p:nvSpPr>
          <p:spPr>
            <a:xfrm>
              <a:off x="609600" y="1066800"/>
              <a:ext cx="2209800" cy="1371600"/>
            </a:xfrm>
            <a:custGeom>
              <a:avLst/>
              <a:gdLst/>
              <a:ahLst/>
              <a:cxnLst/>
              <a:rect l="0" t="0" r="r" b="b"/>
              <a:pathLst>
                <a:path w="58000" h="36000">
                  <a:moveTo>
                    <a:pt x="0" y="3000"/>
                  </a:moveTo>
                  <a:lnTo>
                    <a:pt x="0" y="33000"/>
                  </a:lnTo>
                  <a:cubicBezTo>
                    <a:pt x="0" y="34657"/>
                    <a:pt x="12984" y="36000"/>
                    <a:pt x="29000" y="36000"/>
                  </a:cubicBezTo>
                  <a:cubicBezTo>
                    <a:pt x="45016" y="36000"/>
                    <a:pt x="58000" y="34657"/>
                    <a:pt x="58000" y="33000"/>
                  </a:cubicBezTo>
                  <a:lnTo>
                    <a:pt x="58000" y="3000"/>
                  </a:lnTo>
                  <a:cubicBezTo>
                    <a:pt x="58000" y="1343"/>
                    <a:pt x="45016" y="0"/>
                    <a:pt x="29000" y="0"/>
                  </a:cubicBezTo>
                  <a:cubicBezTo>
                    <a:pt x="12984" y="0"/>
                    <a:pt x="0" y="1343"/>
                    <a:pt x="0" y="3000"/>
                  </a:cubicBezTo>
                  <a:close/>
                </a:path>
              </a:pathLst>
            </a:custGeom>
            <a:solidFill>
              <a:srgbClr val="DDEBF7"/>
            </a:solidFill>
            <a:ln w="22859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n:kv-directory 线"/>
            <p:cNvSpPr/>
            <p:nvPr/>
          </p:nvSpPr>
          <p:spPr>
            <a:xfrm>
              <a:off x="609600" y="1181100"/>
              <a:ext cx="2209800" cy="114300"/>
            </a:xfrm>
            <a:custGeom>
              <a:avLst/>
              <a:gdLst/>
              <a:ahLst/>
              <a:cxnLst/>
              <a:rect l="0" t="0" r="r" b="b"/>
              <a:pathLst>
                <a:path w="58000" h="3000" fill="none">
                  <a:moveTo>
                    <a:pt x="0" y="0"/>
                  </a:moveTo>
                  <a:cubicBezTo>
                    <a:pt x="0" y="1657"/>
                    <a:pt x="12984" y="3000"/>
                    <a:pt x="29000" y="3000"/>
                  </a:cubicBezTo>
                  <a:cubicBezTo>
                    <a:pt x="45016" y="3000"/>
                    <a:pt x="58000" y="1657"/>
                    <a:pt x="58000" y="0"/>
                  </a:cubicBezTo>
                </a:path>
              </a:pathLst>
            </a:custGeom>
            <a:noFill/>
            <a:ln w="22859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n:kv-directory 文字"/>
            <p:cNvSpPr txBox="1"/>
            <p:nvPr/>
          </p:nvSpPr>
          <p:spPr>
            <a:xfrm>
              <a:off x="699135" y="1198054"/>
              <a:ext cx="2030729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210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KV Directory</a:t>
              </a:r>
            </a:p>
          </p:txBody>
        </p:sp>
        <p:sp>
          <p:nvSpPr>
            <p:cNvPr id="43" name="n:kv-directory 文字"/>
            <p:cNvSpPr txBox="1"/>
            <p:nvPr/>
          </p:nvSpPr>
          <p:spPr>
            <a:xfrm>
              <a:off x="702944" y="1530762"/>
              <a:ext cx="202311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prefix hash →</a:t>
              </a:r>
            </a:p>
          </p:txBody>
        </p:sp>
        <p:sp>
          <p:nvSpPr>
            <p:cNvPr id="44" name="n:kv-directory 文字"/>
            <p:cNvSpPr txBox="1"/>
            <p:nvPr/>
          </p:nvSpPr>
          <p:spPr>
            <a:xfrm>
              <a:off x="718185" y="1805082"/>
              <a:ext cx="199262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block location</a:t>
              </a:r>
            </a:p>
          </p:txBody>
        </p:sp>
      </p:grpSp>
      <p:grpSp>
        <p:nvGrpSpPr>
          <p:cNvPr id="119" name="n:te-prefill Transfer Engine"/>
          <p:cNvGrpSpPr/>
          <p:nvPr/>
        </p:nvGrpSpPr>
        <p:grpSpPr>
          <a:xfrm>
            <a:off x="800100" y="3524250"/>
            <a:ext cx="1524000" cy="1066800"/>
            <a:chOff x="800100" y="3524250"/>
            <a:chExt cx="1524000" cy="1066800"/>
          </a:xfrm>
        </p:grpSpPr>
        <p:sp>
          <p:nvSpPr>
            <p:cNvPr id="45" name="n:te-prefill 框"/>
            <p:cNvSpPr/>
            <p:nvPr/>
          </p:nvSpPr>
          <p:spPr>
            <a:xfrm>
              <a:off x="933450" y="3524250"/>
              <a:ext cx="1257300" cy="1066800"/>
            </a:xfrm>
            <a:prstGeom prst="roundRect">
              <a:avLst>
                <a:gd name="adj" fmla="val 5357"/>
              </a:avLst>
            </a:prstGeom>
            <a:solidFill>
              <a:srgbClr val="FBE5D6"/>
            </a:solidFill>
            <a:ln w="22859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46" name="n:te-prefill 文字"/>
            <p:cNvSpPr txBox="1"/>
            <p:nvPr/>
          </p:nvSpPr>
          <p:spPr>
            <a:xfrm>
              <a:off x="800100" y="3581209"/>
              <a:ext cx="1524000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210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Transfer</a:t>
              </a:r>
            </a:p>
          </p:txBody>
        </p:sp>
        <p:sp>
          <p:nvSpPr>
            <p:cNvPr id="47" name="n:te-prefill 文字"/>
            <p:cNvSpPr txBox="1"/>
            <p:nvPr/>
          </p:nvSpPr>
          <p:spPr>
            <a:xfrm>
              <a:off x="878205" y="3886009"/>
              <a:ext cx="1367789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210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Engine</a:t>
              </a:r>
            </a:p>
          </p:txBody>
        </p:sp>
      </p:grpSp>
      <p:grpSp>
        <p:nvGrpSpPr>
          <p:cNvPr id="120" name="n:te-decode Transfer Engine"/>
          <p:cNvGrpSpPr/>
          <p:nvPr/>
        </p:nvGrpSpPr>
        <p:grpSpPr>
          <a:xfrm>
            <a:off x="7200900" y="3524250"/>
            <a:ext cx="1524000" cy="1066800"/>
            <a:chOff x="7200900" y="3524250"/>
            <a:chExt cx="1524000" cy="1066800"/>
          </a:xfrm>
        </p:grpSpPr>
        <p:sp>
          <p:nvSpPr>
            <p:cNvPr id="48" name="n:te-decode 框"/>
            <p:cNvSpPr/>
            <p:nvPr/>
          </p:nvSpPr>
          <p:spPr>
            <a:xfrm>
              <a:off x="7334250" y="3524250"/>
              <a:ext cx="1257300" cy="1066800"/>
            </a:xfrm>
            <a:prstGeom prst="roundRect">
              <a:avLst>
                <a:gd name="adj" fmla="val 5357"/>
              </a:avLst>
            </a:prstGeom>
            <a:solidFill>
              <a:srgbClr val="FBE5D6"/>
            </a:solidFill>
            <a:ln w="22859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49" name="n:te-decode 文字"/>
            <p:cNvSpPr txBox="1"/>
            <p:nvPr/>
          </p:nvSpPr>
          <p:spPr>
            <a:xfrm>
              <a:off x="7200900" y="3581209"/>
              <a:ext cx="1524000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210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Transfer</a:t>
              </a:r>
            </a:p>
          </p:txBody>
        </p:sp>
        <p:sp>
          <p:nvSpPr>
            <p:cNvPr id="50" name="n:te-decode 文字"/>
            <p:cNvSpPr txBox="1"/>
            <p:nvPr/>
          </p:nvSpPr>
          <p:spPr>
            <a:xfrm>
              <a:off x="7279005" y="3886009"/>
              <a:ext cx="1367789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210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Engine</a:t>
              </a:r>
            </a:p>
          </p:txBody>
        </p:sp>
      </p:grpSp>
      <p:grpSp>
        <p:nvGrpSpPr>
          <p:cNvPr id="121" name="n:kv-cache-pool KV Cache Pool"/>
          <p:cNvGrpSpPr/>
          <p:nvPr/>
        </p:nvGrpSpPr>
        <p:grpSpPr>
          <a:xfrm>
            <a:off x="609600" y="5592222"/>
            <a:ext cx="8305800" cy="1261777"/>
            <a:chOff x="609600" y="5592222"/>
            <a:chExt cx="8305800" cy="1261777"/>
          </a:xfrm>
        </p:grpSpPr>
        <p:sp>
          <p:nvSpPr>
            <p:cNvPr id="51" name="n:kv-cache-pool 框"/>
            <p:cNvSpPr/>
            <p:nvPr/>
          </p:nvSpPr>
          <p:spPr>
            <a:xfrm>
              <a:off x="609600" y="5600700"/>
              <a:ext cx="8305800" cy="1219200"/>
            </a:xfrm>
            <a:prstGeom prst="roundRect">
              <a:avLst>
                <a:gd name="adj" fmla="val 4687"/>
              </a:avLst>
            </a:prstGeom>
            <a:solidFill>
              <a:srgbClr val="DDEBF7"/>
            </a:solidFill>
            <a:ln w="22859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2" name="n:kv-cache-pool 框"/>
            <p:cNvSpPr/>
            <p:nvPr/>
          </p:nvSpPr>
          <p:spPr>
            <a:xfrm>
              <a:off x="723900" y="5695950"/>
              <a:ext cx="2438400" cy="6667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3" name="n:kv-cache-pool 框"/>
            <p:cNvSpPr/>
            <p:nvPr/>
          </p:nvSpPr>
          <p:spPr>
            <a:xfrm>
              <a:off x="3352800" y="5695950"/>
              <a:ext cx="2438400" cy="6667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4" name="n:kv-cache-pool 框"/>
            <p:cNvSpPr/>
            <p:nvPr/>
          </p:nvSpPr>
          <p:spPr>
            <a:xfrm>
              <a:off x="6362700" y="5695950"/>
              <a:ext cx="2438400" cy="6667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5" name="n:kv-cache-pool 圆"/>
            <p:cNvSpPr/>
            <p:nvPr/>
          </p:nvSpPr>
          <p:spPr>
            <a:xfrm>
              <a:off x="5924550" y="5998845"/>
              <a:ext cx="60960" cy="60960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6" name="n:kv-cache-pool 圆"/>
            <p:cNvSpPr/>
            <p:nvPr/>
          </p:nvSpPr>
          <p:spPr>
            <a:xfrm>
              <a:off x="6046470" y="5998845"/>
              <a:ext cx="60960" cy="60960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7" name="n:kv-cache-pool 圆"/>
            <p:cNvSpPr/>
            <p:nvPr/>
          </p:nvSpPr>
          <p:spPr>
            <a:xfrm>
              <a:off x="6168390" y="5998845"/>
              <a:ext cx="60960" cy="60960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58" name="n:kv-cache-pool 文字"/>
            <p:cNvSpPr txBox="1"/>
            <p:nvPr/>
          </p:nvSpPr>
          <p:spPr>
            <a:xfrm>
              <a:off x="1245870" y="5592222"/>
              <a:ext cx="1394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server 1</a:t>
              </a:r>
            </a:p>
          </p:txBody>
        </p:sp>
        <p:sp>
          <p:nvSpPr>
            <p:cNvPr id="59" name="n:kv-cache-pool 文字"/>
            <p:cNvSpPr txBox="1"/>
            <p:nvPr/>
          </p:nvSpPr>
          <p:spPr>
            <a:xfrm>
              <a:off x="3874770" y="5592222"/>
              <a:ext cx="1394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server 2</a:t>
              </a:r>
            </a:p>
          </p:txBody>
        </p:sp>
        <p:sp>
          <p:nvSpPr>
            <p:cNvPr id="60" name="n:kv-cache-pool 文字"/>
            <p:cNvSpPr txBox="1"/>
            <p:nvPr/>
          </p:nvSpPr>
          <p:spPr>
            <a:xfrm>
              <a:off x="6863715" y="5592222"/>
              <a:ext cx="143637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server N</a:t>
              </a:r>
            </a:p>
          </p:txBody>
        </p:sp>
        <p:sp>
          <p:nvSpPr>
            <p:cNvPr id="61" name="n:kv-cache-pool 框"/>
            <p:cNvSpPr/>
            <p:nvPr/>
          </p:nvSpPr>
          <p:spPr>
            <a:xfrm>
              <a:off x="1038225" y="6076950"/>
              <a:ext cx="209550" cy="209550"/>
            </a:xfrm>
            <a:prstGeom prst="rect">
              <a:avLst/>
            </a:prstGeom>
            <a:solidFill>
              <a:srgbClr val="FBE5D6"/>
            </a:solidFill>
            <a:ln w="15240" cap="flat">
              <a:solidFill>
                <a:srgbClr val="ED7D3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2" name="n:kv-cache-pool 框"/>
            <p:cNvSpPr/>
            <p:nvPr/>
          </p:nvSpPr>
          <p:spPr>
            <a:xfrm>
              <a:off x="1304925" y="6076950"/>
              <a:ext cx="209550" cy="209550"/>
            </a:xfrm>
            <a:prstGeom prst="rect">
              <a:avLst/>
            </a:prstGeom>
            <a:solidFill>
              <a:srgbClr val="FBE5D6"/>
            </a:solidFill>
            <a:ln w="15240" cap="flat">
              <a:solidFill>
                <a:srgbClr val="ED7D3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3" name="n:kv-cache-pool 框"/>
            <p:cNvSpPr/>
            <p:nvPr/>
          </p:nvSpPr>
          <p:spPr>
            <a:xfrm>
              <a:off x="1571625" y="6076950"/>
              <a:ext cx="209550" cy="209550"/>
            </a:xfrm>
            <a:prstGeom prst="rect">
              <a:avLst/>
            </a:prstGeom>
            <a:solidFill>
              <a:srgbClr val="9DC3E6"/>
            </a:solidFill>
            <a:ln w="15240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4" name="n:kv-cache-pool 框"/>
            <p:cNvSpPr/>
            <p:nvPr/>
          </p:nvSpPr>
          <p:spPr>
            <a:xfrm>
              <a:off x="1838325" y="6076950"/>
              <a:ext cx="209550" cy="209550"/>
            </a:xfrm>
            <a:prstGeom prst="rect">
              <a:avLst/>
            </a:prstGeom>
            <a:solidFill>
              <a:srgbClr val="9DC3E6"/>
            </a:solidFill>
            <a:ln w="15240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5" name="n:kv-cache-pool 框"/>
            <p:cNvSpPr/>
            <p:nvPr/>
          </p:nvSpPr>
          <p:spPr>
            <a:xfrm>
              <a:off x="2105025" y="6076950"/>
              <a:ext cx="209550" cy="209550"/>
            </a:xfrm>
            <a:prstGeom prst="rect">
              <a:avLst/>
            </a:prstGeom>
            <a:solidFill>
              <a:srgbClr val="9DC3E6"/>
            </a:solidFill>
            <a:ln w="15240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6" name="n:kv-cache-pool 框"/>
            <p:cNvSpPr/>
            <p:nvPr/>
          </p:nvSpPr>
          <p:spPr>
            <a:xfrm>
              <a:off x="2371725" y="6076950"/>
              <a:ext cx="209550" cy="209550"/>
            </a:xfrm>
            <a:prstGeom prst="rect">
              <a:avLst/>
            </a:prstGeom>
            <a:solidFill>
              <a:srgbClr val="FFFFFF"/>
            </a:solidFill>
            <a:ln w="15240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7" name="n:kv-cache-pool 框"/>
            <p:cNvSpPr/>
            <p:nvPr/>
          </p:nvSpPr>
          <p:spPr>
            <a:xfrm>
              <a:off x="2638425" y="6076950"/>
              <a:ext cx="209550" cy="209550"/>
            </a:xfrm>
            <a:prstGeom prst="rect">
              <a:avLst/>
            </a:prstGeom>
            <a:solidFill>
              <a:srgbClr val="FFFFFF"/>
            </a:solidFill>
            <a:ln w="15240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8" name="n:kv-cache-pool 框"/>
            <p:cNvSpPr/>
            <p:nvPr/>
          </p:nvSpPr>
          <p:spPr>
            <a:xfrm>
              <a:off x="3667125" y="6076950"/>
              <a:ext cx="209550" cy="209550"/>
            </a:xfrm>
            <a:prstGeom prst="rect">
              <a:avLst/>
            </a:prstGeom>
            <a:solidFill>
              <a:srgbClr val="9DC3E6"/>
            </a:solidFill>
            <a:ln w="15240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69" name="n:kv-cache-pool 框"/>
            <p:cNvSpPr/>
            <p:nvPr/>
          </p:nvSpPr>
          <p:spPr>
            <a:xfrm>
              <a:off x="3933825" y="6076950"/>
              <a:ext cx="209550" cy="209550"/>
            </a:xfrm>
            <a:prstGeom prst="rect">
              <a:avLst/>
            </a:prstGeom>
            <a:solidFill>
              <a:srgbClr val="9DC3E6"/>
            </a:solidFill>
            <a:ln w="15240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0" name="n:kv-cache-pool 框"/>
            <p:cNvSpPr/>
            <p:nvPr/>
          </p:nvSpPr>
          <p:spPr>
            <a:xfrm>
              <a:off x="4200525" y="6076950"/>
              <a:ext cx="209550" cy="209550"/>
            </a:xfrm>
            <a:prstGeom prst="rect">
              <a:avLst/>
            </a:prstGeom>
            <a:solidFill>
              <a:srgbClr val="FBE5D6"/>
            </a:solidFill>
            <a:ln w="15240" cap="flat">
              <a:solidFill>
                <a:srgbClr val="ED7D3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1" name="n:kv-cache-pool 框"/>
            <p:cNvSpPr/>
            <p:nvPr/>
          </p:nvSpPr>
          <p:spPr>
            <a:xfrm>
              <a:off x="4467225" y="6076950"/>
              <a:ext cx="209550" cy="209550"/>
            </a:xfrm>
            <a:prstGeom prst="rect">
              <a:avLst/>
            </a:prstGeom>
            <a:solidFill>
              <a:srgbClr val="9DC3E6"/>
            </a:solidFill>
            <a:ln w="15240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2" name="n:kv-cache-pool 框"/>
            <p:cNvSpPr/>
            <p:nvPr/>
          </p:nvSpPr>
          <p:spPr>
            <a:xfrm>
              <a:off x="4733925" y="6076950"/>
              <a:ext cx="209550" cy="209550"/>
            </a:xfrm>
            <a:prstGeom prst="rect">
              <a:avLst/>
            </a:prstGeom>
            <a:solidFill>
              <a:srgbClr val="FFFFFF"/>
            </a:solidFill>
            <a:ln w="15240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3" name="n:kv-cache-pool 框"/>
            <p:cNvSpPr/>
            <p:nvPr/>
          </p:nvSpPr>
          <p:spPr>
            <a:xfrm>
              <a:off x="5000625" y="6076950"/>
              <a:ext cx="209550" cy="209550"/>
            </a:xfrm>
            <a:prstGeom prst="rect">
              <a:avLst/>
            </a:prstGeom>
            <a:solidFill>
              <a:srgbClr val="FFFFFF"/>
            </a:solidFill>
            <a:ln w="15240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4" name="n:kv-cache-pool 框"/>
            <p:cNvSpPr/>
            <p:nvPr/>
          </p:nvSpPr>
          <p:spPr>
            <a:xfrm>
              <a:off x="5267325" y="6076950"/>
              <a:ext cx="209550" cy="209550"/>
            </a:xfrm>
            <a:prstGeom prst="rect">
              <a:avLst/>
            </a:prstGeom>
            <a:solidFill>
              <a:srgbClr val="FFFFFF"/>
            </a:solidFill>
            <a:ln w="15240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5" name="n:kv-cache-pool 框"/>
            <p:cNvSpPr/>
            <p:nvPr/>
          </p:nvSpPr>
          <p:spPr>
            <a:xfrm>
              <a:off x="6677025" y="6076950"/>
              <a:ext cx="209550" cy="209550"/>
            </a:xfrm>
            <a:prstGeom prst="rect">
              <a:avLst/>
            </a:prstGeom>
            <a:solidFill>
              <a:srgbClr val="9DC3E6"/>
            </a:solidFill>
            <a:ln w="15240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6" name="n:kv-cache-pool 框"/>
            <p:cNvSpPr/>
            <p:nvPr/>
          </p:nvSpPr>
          <p:spPr>
            <a:xfrm>
              <a:off x="6943725" y="6076950"/>
              <a:ext cx="209550" cy="209550"/>
            </a:xfrm>
            <a:prstGeom prst="rect">
              <a:avLst/>
            </a:prstGeom>
            <a:solidFill>
              <a:srgbClr val="FBE5D6"/>
            </a:solidFill>
            <a:ln w="15240" cap="flat">
              <a:solidFill>
                <a:srgbClr val="ED7D3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7" name="n:kv-cache-pool 框"/>
            <p:cNvSpPr/>
            <p:nvPr/>
          </p:nvSpPr>
          <p:spPr>
            <a:xfrm>
              <a:off x="7210425" y="6076950"/>
              <a:ext cx="209550" cy="209550"/>
            </a:xfrm>
            <a:prstGeom prst="rect">
              <a:avLst/>
            </a:prstGeom>
            <a:solidFill>
              <a:srgbClr val="9DC3E6"/>
            </a:solidFill>
            <a:ln w="15240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8" name="n:kv-cache-pool 框"/>
            <p:cNvSpPr/>
            <p:nvPr/>
          </p:nvSpPr>
          <p:spPr>
            <a:xfrm>
              <a:off x="7477125" y="6076950"/>
              <a:ext cx="209550" cy="209550"/>
            </a:xfrm>
            <a:prstGeom prst="rect">
              <a:avLst/>
            </a:prstGeom>
            <a:solidFill>
              <a:srgbClr val="9DC3E6"/>
            </a:solidFill>
            <a:ln w="15240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79" name="n:kv-cache-pool 框"/>
            <p:cNvSpPr/>
            <p:nvPr/>
          </p:nvSpPr>
          <p:spPr>
            <a:xfrm>
              <a:off x="7743825" y="6076950"/>
              <a:ext cx="209550" cy="209550"/>
            </a:xfrm>
            <a:prstGeom prst="rect">
              <a:avLst/>
            </a:prstGeom>
            <a:solidFill>
              <a:srgbClr val="9DC3E6"/>
            </a:solidFill>
            <a:ln w="15240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0" name="n:kv-cache-pool 框"/>
            <p:cNvSpPr/>
            <p:nvPr/>
          </p:nvSpPr>
          <p:spPr>
            <a:xfrm>
              <a:off x="8010525" y="6076950"/>
              <a:ext cx="209550" cy="209550"/>
            </a:xfrm>
            <a:prstGeom prst="rect">
              <a:avLst/>
            </a:prstGeom>
            <a:solidFill>
              <a:srgbClr val="FFFFFF"/>
            </a:solidFill>
            <a:ln w="15240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1" name="n:kv-cache-pool 框"/>
            <p:cNvSpPr/>
            <p:nvPr/>
          </p:nvSpPr>
          <p:spPr>
            <a:xfrm>
              <a:off x="8277225" y="6076950"/>
              <a:ext cx="209550" cy="209550"/>
            </a:xfrm>
            <a:prstGeom prst="rect">
              <a:avLst/>
            </a:prstGeom>
            <a:solidFill>
              <a:srgbClr val="FFFFFF"/>
            </a:solidFill>
            <a:ln w="15240" cap="flat">
              <a:solidFill>
                <a:srgbClr val="262626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2" name="n:kv-cache-pool 文字"/>
            <p:cNvSpPr txBox="1"/>
            <p:nvPr/>
          </p:nvSpPr>
          <p:spPr>
            <a:xfrm>
              <a:off x="1377314" y="6267259"/>
              <a:ext cx="2434590" cy="58674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2100" b="1" i="0">
                  <a:solidFill>
                    <a:srgbClr val="262626"/>
                  </a:solidFill>
                  <a:latin typeface="Helvetica Neue"/>
                  <a:ea typeface="Source Han Sans CN"/>
                </a:rPr>
                <a:t>KV Cache Pool</a:t>
              </a:r>
            </a:p>
          </p:txBody>
        </p:sp>
        <p:sp>
          <p:nvSpPr>
            <p:cNvPr id="83" name="n:kv-cache-pool 文字"/>
            <p:cNvSpPr txBox="1"/>
            <p:nvPr/>
          </p:nvSpPr>
          <p:spPr>
            <a:xfrm>
              <a:off x="3469004" y="6295167"/>
              <a:ext cx="517398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host DRAM over RDMA in 16-token blocks</a:t>
              </a:r>
            </a:p>
          </p:txBody>
        </p:sp>
      </p:grpSp>
      <p:grpSp>
        <p:nvGrpSpPr>
          <p:cNvPr id="122" name="s:1 step 1"/>
          <p:cNvGrpSpPr/>
          <p:nvPr/>
        </p:nvGrpSpPr>
        <p:grpSpPr>
          <a:xfrm>
            <a:off x="6217920" y="736377"/>
            <a:ext cx="632460" cy="544830"/>
            <a:chOff x="6217920" y="736377"/>
            <a:chExt cx="632460" cy="544830"/>
          </a:xfrm>
        </p:grpSpPr>
        <p:sp>
          <p:nvSpPr>
            <p:cNvPr id="84" name="s:1 圆"/>
            <p:cNvSpPr/>
            <p:nvPr/>
          </p:nvSpPr>
          <p:spPr>
            <a:xfrm>
              <a:off x="6362700" y="838200"/>
              <a:ext cx="342900" cy="342900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5" name="s:1 文字"/>
            <p:cNvSpPr txBox="1"/>
            <p:nvPr/>
          </p:nvSpPr>
          <p:spPr>
            <a:xfrm>
              <a:off x="6217920" y="7363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1" i="0">
                  <a:solidFill>
                    <a:srgbClr val="FFFFFF"/>
                  </a:solidFill>
                  <a:latin typeface="Helvetica Neue"/>
                  <a:ea typeface="Source Han Sans CN"/>
                </a:rPr>
                <a:t>1</a:t>
              </a:r>
            </a:p>
          </p:txBody>
        </p:sp>
      </p:grpSp>
      <p:grpSp>
        <p:nvGrpSpPr>
          <p:cNvPr id="123" name="s:2 step 2"/>
          <p:cNvGrpSpPr/>
          <p:nvPr/>
        </p:nvGrpSpPr>
        <p:grpSpPr>
          <a:xfrm>
            <a:off x="2941320" y="1231677"/>
            <a:ext cx="632460" cy="544830"/>
            <a:chOff x="2941320" y="1231677"/>
            <a:chExt cx="632460" cy="544830"/>
          </a:xfrm>
        </p:grpSpPr>
        <p:sp>
          <p:nvSpPr>
            <p:cNvPr id="86" name="s:2 圆"/>
            <p:cNvSpPr/>
            <p:nvPr/>
          </p:nvSpPr>
          <p:spPr>
            <a:xfrm>
              <a:off x="3086100" y="1333500"/>
              <a:ext cx="342900" cy="342900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7" name="s:2 文字"/>
            <p:cNvSpPr txBox="1"/>
            <p:nvPr/>
          </p:nvSpPr>
          <p:spPr>
            <a:xfrm>
              <a:off x="2941320" y="123167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1" i="0">
                  <a:solidFill>
                    <a:srgbClr val="FFFFFF"/>
                  </a:solidFill>
                  <a:latin typeface="Helvetica Neue"/>
                  <a:ea typeface="Source Han Sans CN"/>
                </a:rPr>
                <a:t>2</a:t>
              </a:r>
            </a:p>
          </p:txBody>
        </p:sp>
      </p:grpSp>
      <p:grpSp>
        <p:nvGrpSpPr>
          <p:cNvPr id="124" name="s:3 step 3"/>
          <p:cNvGrpSpPr/>
          <p:nvPr/>
        </p:nvGrpSpPr>
        <p:grpSpPr>
          <a:xfrm>
            <a:off x="1550670" y="4946427"/>
            <a:ext cx="632460" cy="544830"/>
            <a:chOff x="1550670" y="4946427"/>
            <a:chExt cx="632460" cy="544830"/>
          </a:xfrm>
        </p:grpSpPr>
        <p:sp>
          <p:nvSpPr>
            <p:cNvPr id="88" name="s:3 圆"/>
            <p:cNvSpPr/>
            <p:nvPr/>
          </p:nvSpPr>
          <p:spPr>
            <a:xfrm>
              <a:off x="1695450" y="5048250"/>
              <a:ext cx="342900" cy="342900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89" name="s:3 文字"/>
            <p:cNvSpPr txBox="1"/>
            <p:nvPr/>
          </p:nvSpPr>
          <p:spPr>
            <a:xfrm>
              <a:off x="1550670" y="494642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1" i="0">
                  <a:solidFill>
                    <a:srgbClr val="FFFFFF"/>
                  </a:solidFill>
                  <a:latin typeface="Helvetica Neue"/>
                  <a:ea typeface="Source Han Sans CN"/>
                </a:rPr>
                <a:t>3</a:t>
              </a:r>
            </a:p>
          </p:txBody>
        </p:sp>
      </p:grpSp>
      <p:grpSp>
        <p:nvGrpSpPr>
          <p:cNvPr id="125" name="s:4 step 4"/>
          <p:cNvGrpSpPr/>
          <p:nvPr/>
        </p:nvGrpSpPr>
        <p:grpSpPr>
          <a:xfrm>
            <a:off x="7341869" y="4946427"/>
            <a:ext cx="632460" cy="544830"/>
            <a:chOff x="7341869" y="4946427"/>
            <a:chExt cx="632460" cy="544830"/>
          </a:xfrm>
        </p:grpSpPr>
        <p:sp>
          <p:nvSpPr>
            <p:cNvPr id="90" name="s:4 圆"/>
            <p:cNvSpPr/>
            <p:nvPr/>
          </p:nvSpPr>
          <p:spPr>
            <a:xfrm>
              <a:off x="7486650" y="5048250"/>
              <a:ext cx="342900" cy="342900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91" name="s:4 文字"/>
            <p:cNvSpPr txBox="1"/>
            <p:nvPr/>
          </p:nvSpPr>
          <p:spPr>
            <a:xfrm>
              <a:off x="7341869" y="494642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1" i="0">
                  <a:solidFill>
                    <a:srgbClr val="FFFFFF"/>
                  </a:solidFill>
                  <a:latin typeface="Helvetica Neue"/>
                  <a:ea typeface="Source Han Sans CN"/>
                </a:rPr>
                <a:t>4</a:t>
              </a:r>
            </a:p>
          </p:txBody>
        </p:sp>
      </p:grpSp>
      <p:grpSp>
        <p:nvGrpSpPr>
          <p:cNvPr id="126" name="s:5 step 5"/>
          <p:cNvGrpSpPr/>
          <p:nvPr/>
        </p:nvGrpSpPr>
        <p:grpSpPr>
          <a:xfrm>
            <a:off x="6998969" y="2165127"/>
            <a:ext cx="632460" cy="544830"/>
            <a:chOff x="6998969" y="2165127"/>
            <a:chExt cx="632460" cy="544830"/>
          </a:xfrm>
        </p:grpSpPr>
        <p:sp>
          <p:nvSpPr>
            <p:cNvPr id="92" name="s:5 圆"/>
            <p:cNvSpPr/>
            <p:nvPr/>
          </p:nvSpPr>
          <p:spPr>
            <a:xfrm>
              <a:off x="7143750" y="2266950"/>
              <a:ext cx="342900" cy="342900"/>
            </a:xfrm>
            <a:prstGeom prst="ellipse">
              <a:avLst/>
            </a:prstGeom>
            <a:solidFill>
              <a:srgbClr val="26262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93" name="s:5 文字"/>
            <p:cNvSpPr txBox="1"/>
            <p:nvPr/>
          </p:nvSpPr>
          <p:spPr>
            <a:xfrm>
              <a:off x="6998969" y="2165127"/>
              <a:ext cx="6324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ctr"/>
              <a:r>
                <a:rPr sz="1950" b="1" i="0">
                  <a:solidFill>
                    <a:srgbClr val="FFFFFF"/>
                  </a:solidFill>
                  <a:latin typeface="Helvetica Neue"/>
                  <a:ea typeface="Source Han Sans CN"/>
                </a:rPr>
                <a:t>5</a:t>
              </a:r>
            </a:p>
          </p:txBody>
        </p:sp>
      </p:grpSp>
      <p:grpSp>
        <p:nvGrpSpPr>
          <p:cNvPr id="127" name="legend 图例"/>
          <p:cNvGrpSpPr/>
          <p:nvPr/>
        </p:nvGrpSpPr>
        <p:grpSpPr>
          <a:xfrm>
            <a:off x="609600" y="-73247"/>
            <a:ext cx="4838700" cy="849629"/>
            <a:chOff x="609600" y="-73247"/>
            <a:chExt cx="4838700" cy="849629"/>
          </a:xfrm>
        </p:grpSpPr>
        <p:cxnSp>
          <p:nvCxnSpPr>
            <p:cNvPr id="94" name="legend 线"/>
            <p:cNvCxnSpPr/>
            <p:nvPr/>
          </p:nvCxnSpPr>
          <p:spPr>
            <a:xfrm>
              <a:off x="609600" y="228600"/>
              <a:ext cx="457200" cy="0"/>
            </a:xfrm>
            <a:prstGeom prst="line">
              <a:avLst/>
            </a:prstGeom>
            <a:ln w="30480" cap="flat">
              <a:solidFill>
                <a:srgbClr val="262626"/>
              </a:solidFill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legend 文字"/>
            <p:cNvSpPr txBox="1"/>
            <p:nvPr/>
          </p:nvSpPr>
          <p:spPr>
            <a:xfrm>
              <a:off x="1181099" y="-73247"/>
              <a:ext cx="97536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data</a:t>
              </a:r>
            </a:p>
          </p:txBody>
        </p:sp>
        <p:cxnSp>
          <p:nvCxnSpPr>
            <p:cNvPr id="96" name="legend 线"/>
            <p:cNvCxnSpPr/>
            <p:nvPr/>
          </p:nvCxnSpPr>
          <p:spPr>
            <a:xfrm>
              <a:off x="609600" y="533400"/>
              <a:ext cx="457200" cy="0"/>
            </a:xfrm>
            <a:prstGeom prst="line">
              <a:avLst/>
            </a:prstGeom>
            <a:ln w="30480" cap="flat">
              <a:solidFill>
                <a:srgbClr val="262626"/>
              </a:solidFill>
              <a:custDash>
                <a:ds d="374999" sp="249999"/>
              </a:custDash>
              <a:miter/>
              <a:tailEnd type="triangl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legend 文字"/>
            <p:cNvSpPr txBox="1"/>
            <p:nvPr/>
          </p:nvSpPr>
          <p:spPr>
            <a:xfrm>
              <a:off x="1181100" y="231552"/>
              <a:ext cx="123825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control</a:t>
              </a:r>
            </a:p>
          </p:txBody>
        </p:sp>
        <p:sp>
          <p:nvSpPr>
            <p:cNvPr id="98" name="legend 框"/>
            <p:cNvSpPr/>
            <p:nvPr/>
          </p:nvSpPr>
          <p:spPr>
            <a:xfrm>
              <a:off x="2209800" y="133350"/>
              <a:ext cx="228600" cy="190500"/>
            </a:xfrm>
            <a:prstGeom prst="rect">
              <a:avLst/>
            </a:prstGeom>
            <a:solidFill>
              <a:srgbClr val="E2F0D9"/>
            </a:solidFill>
            <a:ln w="19050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99" name="legend 框"/>
            <p:cNvSpPr/>
            <p:nvPr/>
          </p:nvSpPr>
          <p:spPr>
            <a:xfrm>
              <a:off x="2514600" y="133350"/>
              <a:ext cx="228600" cy="190500"/>
            </a:xfrm>
            <a:prstGeom prst="rect">
              <a:avLst/>
            </a:prstGeom>
            <a:solidFill>
              <a:srgbClr val="DDEBF7"/>
            </a:solidFill>
            <a:ln w="19050" cap="flat">
              <a:solidFill>
                <a:srgbClr val="182C5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00" name="legend 文字"/>
            <p:cNvSpPr txBox="1"/>
            <p:nvPr/>
          </p:nvSpPr>
          <p:spPr>
            <a:xfrm>
              <a:off x="2857500" y="-73247"/>
              <a:ext cx="2240279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new component</a:t>
              </a:r>
            </a:p>
          </p:txBody>
        </p:sp>
        <p:sp>
          <p:nvSpPr>
            <p:cNvPr id="101" name="legend 框"/>
            <p:cNvSpPr/>
            <p:nvPr/>
          </p:nvSpPr>
          <p:spPr>
            <a:xfrm>
              <a:off x="2533650" y="428625"/>
              <a:ext cx="209550" cy="209550"/>
            </a:xfrm>
            <a:prstGeom prst="rect">
              <a:avLst/>
            </a:prstGeom>
            <a:solidFill>
              <a:srgbClr val="FBE5D6"/>
            </a:solidFill>
            <a:ln w="15240" cap="flat">
              <a:solidFill>
                <a:srgbClr val="ED7D31"/>
              </a:solidFill>
              <a:miter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none"/>
            <a:lstStyle/>
            <a:p>
              <a:pPr algn="ctr"/>
            </a:p>
          </p:txBody>
        </p:sp>
        <p:sp>
          <p:nvSpPr>
            <p:cNvPr id="102" name="legend 文字"/>
            <p:cNvSpPr txBox="1"/>
            <p:nvPr/>
          </p:nvSpPr>
          <p:spPr>
            <a:xfrm>
              <a:off x="2857500" y="231552"/>
              <a:ext cx="2590800" cy="544830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noAutofit/>
            </a:bodyPr>
            <a:lstStyle/>
            <a:p>
              <a:pPr algn="l"/>
              <a:r>
                <a:rPr sz="1950" b="0" i="0">
                  <a:solidFill>
                    <a:srgbClr val="262626"/>
                  </a:solidFill>
                  <a:latin typeface="Helvetica Neue"/>
                  <a:ea typeface="Source Han Sans CN"/>
                </a:rPr>
                <a:t>shared-prefix block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