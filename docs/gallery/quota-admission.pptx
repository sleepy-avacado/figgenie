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686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框"/>
          <p:cNvSpPr/>
          <p:nvPr/>
        </p:nvSpPr>
        <p:spPr>
          <a:xfrm>
            <a:off x="0" y="0"/>
            <a:ext cx="9144000" cy="4686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grpSp>
        <p:nvGrpSpPr>
          <p:cNvPr id="88" name="c:qm QM"/>
          <p:cNvGrpSpPr/>
          <p:nvPr/>
        </p:nvGrpSpPr>
        <p:grpSpPr>
          <a:xfrm>
            <a:off x="72390" y="2879121"/>
            <a:ext cx="3890010" cy="1692879"/>
            <a:chOff x="72390" y="2879121"/>
            <a:chExt cx="3890010" cy="1692879"/>
          </a:xfrm>
        </p:grpSpPr>
        <p:sp>
          <p:nvSpPr>
            <p:cNvPr id="3" name="c:qm 框"/>
            <p:cNvSpPr/>
            <p:nvPr/>
          </p:nvSpPr>
          <p:spPr>
            <a:xfrm>
              <a:off x="152400" y="3162300"/>
              <a:ext cx="3810000" cy="1409700"/>
            </a:xfrm>
            <a:prstGeom prst="roundRect">
              <a:avLst>
                <a:gd name="adj" fmla="val 2702"/>
              </a:avLst>
            </a:prstGeom>
            <a:solidFill>
              <a:srgbClr val="FBE5D6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" name="c:qm 框"/>
            <p:cNvSpPr/>
            <p:nvPr/>
          </p:nvSpPr>
          <p:spPr>
            <a:xfrm>
              <a:off x="342900" y="3752850"/>
              <a:ext cx="3505200" cy="6858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" name="c:qm 框"/>
            <p:cNvSpPr/>
            <p:nvPr/>
          </p:nvSpPr>
          <p:spPr>
            <a:xfrm>
              <a:off x="304800" y="3714750"/>
              <a:ext cx="3505200" cy="6858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" name="c:qm 框"/>
            <p:cNvSpPr/>
            <p:nvPr/>
          </p:nvSpPr>
          <p:spPr>
            <a:xfrm>
              <a:off x="266700" y="2971800"/>
              <a:ext cx="495300" cy="381000"/>
            </a:xfrm>
            <a:prstGeom prst="rect">
              <a:avLst/>
            </a:prstGeom>
            <a:solidFill>
              <a:srgbClr val="ED7D31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" name="c:qm 文字"/>
            <p:cNvSpPr txBox="1"/>
            <p:nvPr/>
          </p:nvSpPr>
          <p:spPr>
            <a:xfrm>
              <a:off x="72390" y="2879121"/>
              <a:ext cx="88391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1A1A1A"/>
                  </a:solidFill>
                  <a:latin typeface="Calibri"/>
                  <a:ea typeface="Source Han Sans CN"/>
                </a:rPr>
                <a:t>QM</a:t>
              </a:r>
            </a:p>
          </p:txBody>
        </p:sp>
      </p:grpSp>
      <p:grpSp>
        <p:nvGrpSpPr>
          <p:cNvPr id="89" name="e:e-reserve qc→qm"/>
          <p:cNvGrpSpPr/>
          <p:nvPr/>
        </p:nvGrpSpPr>
        <p:grpSpPr>
          <a:xfrm>
            <a:off x="-22860" y="1943100"/>
            <a:ext cx="1356360" cy="1200150"/>
            <a:chOff x="-22860" y="1943100"/>
            <a:chExt cx="1356360" cy="1200150"/>
          </a:xfrm>
        </p:grpSpPr>
        <p:cxnSp>
          <p:nvCxnSpPr>
            <p:cNvPr id="8" name="e:e-reserve 线"/>
            <p:cNvCxnSpPr/>
            <p:nvPr/>
          </p:nvCxnSpPr>
          <p:spPr>
            <a:xfrm>
              <a:off x="1333500" y="1943100"/>
              <a:ext cx="0" cy="1200150"/>
            </a:xfrm>
            <a:prstGeom prst="line">
              <a:avLst/>
            </a:prstGeom>
            <a:ln w="26669" cap="flat">
              <a:solidFill>
                <a:srgbClr val="1A1A1A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e:e-reserve 文字"/>
            <p:cNvSpPr txBox="1"/>
            <p:nvPr/>
          </p:nvSpPr>
          <p:spPr>
            <a:xfrm>
              <a:off x="-22860" y="2106072"/>
              <a:ext cx="12420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reserve</a:t>
              </a:r>
            </a:p>
          </p:txBody>
        </p:sp>
        <p:sp>
          <p:nvSpPr>
            <p:cNvPr id="10" name="e:e-reserve 文字"/>
            <p:cNvSpPr txBox="1"/>
            <p:nvPr/>
          </p:nvSpPr>
          <p:spPr>
            <a:xfrm>
              <a:off x="441960" y="2384202"/>
              <a:ext cx="77724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(n)</a:t>
              </a:r>
            </a:p>
          </p:txBody>
        </p:sp>
      </p:grpSp>
      <p:grpSp>
        <p:nvGrpSpPr>
          <p:cNvPr id="90" name="e:e-admit qm→qc"/>
          <p:cNvGrpSpPr/>
          <p:nvPr/>
        </p:nvGrpSpPr>
        <p:grpSpPr>
          <a:xfrm>
            <a:off x="1676400" y="1962150"/>
            <a:ext cx="1482089" cy="1200150"/>
            <a:chOff x="1676400" y="1962150"/>
            <a:chExt cx="1482089" cy="1200150"/>
          </a:xfrm>
        </p:grpSpPr>
        <p:cxnSp>
          <p:nvCxnSpPr>
            <p:cNvPr id="11" name="e:e-admit 线"/>
            <p:cNvCxnSpPr/>
            <p:nvPr/>
          </p:nvCxnSpPr>
          <p:spPr>
            <a:xfrm flipV="1">
              <a:off x="1676400" y="1962150"/>
              <a:ext cx="0" cy="1200150"/>
            </a:xfrm>
            <a:prstGeom prst="line">
              <a:avLst/>
            </a:prstGeom>
            <a:ln w="26669" cap="flat">
              <a:solidFill>
                <a:srgbClr val="1A1A1A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:e-admit 文字"/>
            <p:cNvSpPr txBox="1"/>
            <p:nvPr/>
          </p:nvSpPr>
          <p:spPr>
            <a:xfrm>
              <a:off x="2076450" y="2106072"/>
              <a:ext cx="10820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admit</a:t>
              </a:r>
            </a:p>
          </p:txBody>
        </p:sp>
      </p:grpSp>
      <p:grpSp>
        <p:nvGrpSpPr>
          <p:cNvPr id="91" name="e:e-query svc→db"/>
          <p:cNvGrpSpPr/>
          <p:nvPr/>
        </p:nvGrpSpPr>
        <p:grpSpPr>
          <a:xfrm>
            <a:off x="2057400" y="612552"/>
            <a:ext cx="1512570" cy="544830"/>
            <a:chOff x="2057400" y="612552"/>
            <a:chExt cx="1512570" cy="544830"/>
          </a:xfrm>
        </p:grpSpPr>
        <p:cxnSp>
          <p:nvCxnSpPr>
            <p:cNvPr id="13" name="e:e-query 线"/>
            <p:cNvCxnSpPr/>
            <p:nvPr/>
          </p:nvCxnSpPr>
          <p:spPr>
            <a:xfrm flipV="1">
              <a:off x="2057400" y="651510"/>
              <a:ext cx="0" cy="472440"/>
            </a:xfrm>
            <a:prstGeom prst="line">
              <a:avLst/>
            </a:prstGeom>
            <a:ln w="26669" cap="flat">
              <a:solidFill>
                <a:srgbClr val="1A1A1A"/>
              </a:solidFill>
              <a:miter/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:e-query 文字"/>
            <p:cNvSpPr txBox="1"/>
            <p:nvPr/>
          </p:nvSpPr>
          <p:spPr>
            <a:xfrm>
              <a:off x="2495550" y="612552"/>
              <a:ext cx="10744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query</a:t>
              </a:r>
            </a:p>
          </p:txBody>
        </p:sp>
      </p:grpSp>
      <p:grpSp>
        <p:nvGrpSpPr>
          <p:cNvPr id="92" name="e:e-refund qc→qm"/>
          <p:cNvGrpSpPr/>
          <p:nvPr/>
        </p:nvGrpSpPr>
        <p:grpSpPr>
          <a:xfrm>
            <a:off x="2781300" y="1943100"/>
            <a:ext cx="1604010" cy="1200150"/>
            <a:chOff x="2781300" y="1943100"/>
            <a:chExt cx="1604010" cy="1200150"/>
          </a:xfrm>
        </p:grpSpPr>
        <p:cxnSp>
          <p:nvCxnSpPr>
            <p:cNvPr id="15" name="e:e-refund 线"/>
            <p:cNvCxnSpPr/>
            <p:nvPr/>
          </p:nvCxnSpPr>
          <p:spPr>
            <a:xfrm>
              <a:off x="2781300" y="1943100"/>
              <a:ext cx="0" cy="1200150"/>
            </a:xfrm>
            <a:prstGeom prst="line">
              <a:avLst/>
            </a:prstGeom>
            <a:ln w="26669" cap="flat">
              <a:solidFill>
                <a:srgbClr val="1A1A1A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:e-refund 文字"/>
            <p:cNvSpPr txBox="1"/>
            <p:nvPr/>
          </p:nvSpPr>
          <p:spPr>
            <a:xfrm>
              <a:off x="3181350" y="2106072"/>
              <a:ext cx="116967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refund</a:t>
              </a:r>
            </a:p>
          </p:txBody>
        </p:sp>
        <p:sp>
          <p:nvSpPr>
            <p:cNvPr id="17" name="e:e-refund 文字"/>
            <p:cNvSpPr txBox="1"/>
            <p:nvPr/>
          </p:nvSpPr>
          <p:spPr>
            <a:xfrm>
              <a:off x="3181350" y="2384202"/>
              <a:ext cx="12039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(async)</a:t>
              </a:r>
            </a:p>
          </p:txBody>
        </p:sp>
      </p:grpSp>
      <p:grpSp>
        <p:nvGrpSpPr>
          <p:cNvPr id="93" name="n:db DB"/>
          <p:cNvGrpSpPr/>
          <p:nvPr/>
        </p:nvGrpSpPr>
        <p:grpSpPr>
          <a:xfrm>
            <a:off x="1600200" y="106679"/>
            <a:ext cx="914400" cy="570262"/>
            <a:chOff x="1600200" y="106679"/>
            <a:chExt cx="914400" cy="570262"/>
          </a:xfrm>
        </p:grpSpPr>
        <p:sp>
          <p:nvSpPr>
            <p:cNvPr id="18" name="n:db 线"/>
            <p:cNvSpPr/>
            <p:nvPr/>
          </p:nvSpPr>
          <p:spPr>
            <a:xfrm>
              <a:off x="1600200" y="106679"/>
              <a:ext cx="914400" cy="525780"/>
            </a:xfrm>
            <a:custGeom>
              <a:avLst/>
              <a:gdLst/>
              <a:ahLst/>
              <a:cxnLst/>
              <a:rect l="0" t="0" r="r" b="b"/>
              <a:pathLst>
                <a:path w="24000" h="13800">
                  <a:moveTo>
                    <a:pt x="0" y="1800"/>
                  </a:moveTo>
                  <a:lnTo>
                    <a:pt x="0" y="12000"/>
                  </a:lnTo>
                  <a:cubicBezTo>
                    <a:pt x="0" y="12994"/>
                    <a:pt x="5373" y="13800"/>
                    <a:pt x="12000" y="13800"/>
                  </a:cubicBezTo>
                  <a:cubicBezTo>
                    <a:pt x="18627" y="13800"/>
                    <a:pt x="24000" y="12994"/>
                    <a:pt x="24000" y="12000"/>
                  </a:cubicBezTo>
                  <a:lnTo>
                    <a:pt x="24000" y="1800"/>
                  </a:lnTo>
                  <a:cubicBezTo>
                    <a:pt x="24000" y="806"/>
                    <a:pt x="18627" y="0"/>
                    <a:pt x="12000" y="0"/>
                  </a:cubicBezTo>
                  <a:cubicBezTo>
                    <a:pt x="5373" y="0"/>
                    <a:pt x="0" y="806"/>
                    <a:pt x="0" y="1800"/>
                  </a:cubicBezTo>
                  <a:close/>
                </a:path>
              </a:pathLst>
            </a:custGeom>
            <a:solidFill>
              <a:srgbClr val="F2F2F2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n:db 圆"/>
            <p:cNvSpPr/>
            <p:nvPr/>
          </p:nvSpPr>
          <p:spPr>
            <a:xfrm>
              <a:off x="1600200" y="106679"/>
              <a:ext cx="914400" cy="137160"/>
            </a:xfrm>
            <a:prstGeom prst="ellipse">
              <a:avLst/>
            </a:prstGeom>
            <a:solidFill>
              <a:srgbClr val="F2F2F2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0" name="n:db 文字"/>
            <p:cNvSpPr txBox="1"/>
            <p:nvPr/>
          </p:nvSpPr>
          <p:spPr>
            <a:xfrm>
              <a:off x="1666875" y="132111"/>
              <a:ext cx="7810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DB</a:t>
              </a:r>
            </a:p>
          </p:txBody>
        </p:sp>
      </p:grpSp>
      <p:grpSp>
        <p:nvGrpSpPr>
          <p:cNvPr id="94" name="n:svc Svc"/>
          <p:cNvGrpSpPr/>
          <p:nvPr/>
        </p:nvGrpSpPr>
        <p:grpSpPr>
          <a:xfrm>
            <a:off x="1066800" y="1059846"/>
            <a:ext cx="1981200" cy="544830"/>
            <a:chOff x="1066800" y="1059846"/>
            <a:chExt cx="1981200" cy="544830"/>
          </a:xfrm>
        </p:grpSpPr>
        <p:sp>
          <p:nvSpPr>
            <p:cNvPr id="21" name="n:svc 框"/>
            <p:cNvSpPr/>
            <p:nvPr/>
          </p:nvSpPr>
          <p:spPr>
            <a:xfrm>
              <a:off x="1066800" y="1143000"/>
              <a:ext cx="19812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2" name="n:svc 文字"/>
            <p:cNvSpPr txBox="1"/>
            <p:nvPr/>
          </p:nvSpPr>
          <p:spPr>
            <a:xfrm>
              <a:off x="1645920" y="1059846"/>
              <a:ext cx="8229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</p:grpSp>
      <p:grpSp>
        <p:nvGrpSpPr>
          <p:cNvPr id="95" name="n:qc QC"/>
          <p:cNvGrpSpPr/>
          <p:nvPr/>
        </p:nvGrpSpPr>
        <p:grpSpPr>
          <a:xfrm>
            <a:off x="1066800" y="1459896"/>
            <a:ext cx="1981200" cy="544830"/>
            <a:chOff x="1066800" y="1459896"/>
            <a:chExt cx="1981200" cy="544830"/>
          </a:xfrm>
        </p:grpSpPr>
        <p:sp>
          <p:nvSpPr>
            <p:cNvPr id="23" name="n:qc 框"/>
            <p:cNvSpPr/>
            <p:nvPr/>
          </p:nvSpPr>
          <p:spPr>
            <a:xfrm>
              <a:off x="1066800" y="1543050"/>
              <a:ext cx="1981200" cy="400050"/>
            </a:xfrm>
            <a:prstGeom prst="rect">
              <a:avLst/>
            </a:prstGeom>
            <a:solidFill>
              <a:srgbClr val="B4C7E7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4" name="n:qc 文字"/>
            <p:cNvSpPr txBox="1"/>
            <p:nvPr/>
          </p:nvSpPr>
          <p:spPr>
            <a:xfrm>
              <a:off x="1659254" y="1459896"/>
              <a:ext cx="79629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QC</a:t>
              </a:r>
            </a:p>
          </p:txBody>
        </p:sp>
      </p:grpSp>
      <p:grpSp>
        <p:nvGrpSpPr>
          <p:cNvPr id="96" name="n:cell-id ID"/>
          <p:cNvGrpSpPr/>
          <p:nvPr/>
        </p:nvGrpSpPr>
        <p:grpSpPr>
          <a:xfrm>
            <a:off x="160019" y="3676650"/>
            <a:ext cx="708660" cy="685800"/>
            <a:chOff x="160019" y="3676650"/>
            <a:chExt cx="708660" cy="685800"/>
          </a:xfrm>
        </p:grpSpPr>
        <p:sp>
          <p:nvSpPr>
            <p:cNvPr id="25" name="n:cell-id 框"/>
            <p:cNvSpPr/>
            <p:nvPr/>
          </p:nvSpPr>
          <p:spPr>
            <a:xfrm>
              <a:off x="266700" y="3676650"/>
              <a:ext cx="495300" cy="685800"/>
            </a:xfrm>
            <a:prstGeom prst="rect">
              <a:avLst/>
            </a:prstGeom>
            <a:solidFill>
              <a:srgbClr val="F2F2F2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6" name="n:cell-id 文字"/>
            <p:cNvSpPr txBox="1"/>
            <p:nvPr/>
          </p:nvSpPr>
          <p:spPr>
            <a:xfrm>
              <a:off x="160019" y="3736371"/>
              <a:ext cx="7086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ID</a:t>
              </a:r>
            </a:p>
          </p:txBody>
        </p:sp>
      </p:grpSp>
      <p:grpSp>
        <p:nvGrpSpPr>
          <p:cNvPr id="97" name="n:cell-limit limit"/>
          <p:cNvGrpSpPr/>
          <p:nvPr/>
        </p:nvGrpSpPr>
        <p:grpSpPr>
          <a:xfrm>
            <a:off x="649605" y="3569112"/>
            <a:ext cx="948689" cy="820389"/>
            <a:chOff x="649605" y="3569112"/>
            <a:chExt cx="948689" cy="820389"/>
          </a:xfrm>
        </p:grpSpPr>
        <p:sp>
          <p:nvSpPr>
            <p:cNvPr id="27" name="n:cell-limit 框"/>
            <p:cNvSpPr/>
            <p:nvPr/>
          </p:nvSpPr>
          <p:spPr>
            <a:xfrm>
              <a:off x="762000" y="3676650"/>
              <a:ext cx="723900" cy="6858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28" name="n:cell-limit 文字"/>
            <p:cNvSpPr txBox="1"/>
            <p:nvPr/>
          </p:nvSpPr>
          <p:spPr>
            <a:xfrm>
              <a:off x="649605" y="3569112"/>
              <a:ext cx="94868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limit</a:t>
              </a:r>
            </a:p>
          </p:txBody>
        </p:sp>
        <p:sp>
          <p:nvSpPr>
            <p:cNvPr id="29" name="n:cell-limit 文字"/>
            <p:cNvSpPr txBox="1"/>
            <p:nvPr/>
          </p:nvSpPr>
          <p:spPr>
            <a:xfrm>
              <a:off x="748665" y="3886581"/>
              <a:ext cx="75056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595959"/>
                  </a:solidFill>
                  <a:latin typeface="Calibri"/>
                  <a:ea typeface="Source Han Sans CN"/>
                </a:rPr>
                <a:t>4 B</a:t>
              </a:r>
            </a:p>
          </p:txBody>
        </p:sp>
      </p:grpSp>
      <p:grpSp>
        <p:nvGrpSpPr>
          <p:cNvPr id="98" name="n:cell-window window"/>
          <p:cNvGrpSpPr/>
          <p:nvPr/>
        </p:nvGrpSpPr>
        <p:grpSpPr>
          <a:xfrm>
            <a:off x="1411605" y="3569112"/>
            <a:ext cx="1291589" cy="820389"/>
            <a:chOff x="1411605" y="3569112"/>
            <a:chExt cx="1291589" cy="820389"/>
          </a:xfrm>
        </p:grpSpPr>
        <p:sp>
          <p:nvSpPr>
            <p:cNvPr id="30" name="n:cell-window 框"/>
            <p:cNvSpPr/>
            <p:nvPr/>
          </p:nvSpPr>
          <p:spPr>
            <a:xfrm>
              <a:off x="1485900" y="3676650"/>
              <a:ext cx="1143000" cy="6858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1" name="n:cell-window 文字"/>
            <p:cNvSpPr txBox="1"/>
            <p:nvPr/>
          </p:nvSpPr>
          <p:spPr>
            <a:xfrm>
              <a:off x="1411605" y="3569112"/>
              <a:ext cx="129158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window</a:t>
              </a:r>
            </a:p>
          </p:txBody>
        </p:sp>
        <p:sp>
          <p:nvSpPr>
            <p:cNvPr id="32" name="n:cell-window 文字"/>
            <p:cNvSpPr txBox="1"/>
            <p:nvPr/>
          </p:nvSpPr>
          <p:spPr>
            <a:xfrm>
              <a:off x="1464945" y="3886581"/>
              <a:ext cx="118491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595959"/>
                  </a:solidFill>
                  <a:latin typeface="Calibri"/>
                  <a:ea typeface="Source Han Sans CN"/>
                </a:rPr>
                <a:t>≤10s KB</a:t>
              </a:r>
            </a:p>
          </p:txBody>
        </p:sp>
      </p:grpSp>
      <p:grpSp>
        <p:nvGrpSpPr>
          <p:cNvPr id="99" name="n:cell-pending pending"/>
          <p:cNvGrpSpPr/>
          <p:nvPr/>
        </p:nvGrpSpPr>
        <p:grpSpPr>
          <a:xfrm>
            <a:off x="2545079" y="3569112"/>
            <a:ext cx="1310639" cy="820389"/>
            <a:chOff x="2545079" y="3569112"/>
            <a:chExt cx="1310639" cy="820389"/>
          </a:xfrm>
        </p:grpSpPr>
        <p:sp>
          <p:nvSpPr>
            <p:cNvPr id="33" name="n:cell-pending 框"/>
            <p:cNvSpPr/>
            <p:nvPr/>
          </p:nvSpPr>
          <p:spPr>
            <a:xfrm>
              <a:off x="2628900" y="3676650"/>
              <a:ext cx="1143000" cy="68580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4" name="n:cell-pending 文字"/>
            <p:cNvSpPr txBox="1"/>
            <p:nvPr/>
          </p:nvSpPr>
          <p:spPr>
            <a:xfrm>
              <a:off x="2545079" y="3569112"/>
              <a:ext cx="13106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pending</a:t>
              </a:r>
            </a:p>
          </p:txBody>
        </p:sp>
        <p:sp>
          <p:nvSpPr>
            <p:cNvPr id="35" name="n:cell-pending 文字"/>
            <p:cNvSpPr txBox="1"/>
            <p:nvPr/>
          </p:nvSpPr>
          <p:spPr>
            <a:xfrm>
              <a:off x="2607945" y="3886581"/>
              <a:ext cx="118491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595959"/>
                  </a:solidFill>
                  <a:latin typeface="Calibri"/>
                  <a:ea typeface="Source Han Sans CN"/>
                </a:rPr>
                <a:t>≤10s KB</a:t>
              </a:r>
            </a:p>
          </p:txBody>
        </p:sp>
      </p:grpSp>
      <p:grpSp>
        <p:nvGrpSpPr>
          <p:cNvPr id="100" name="s:1 step 1"/>
          <p:cNvGrpSpPr/>
          <p:nvPr/>
        </p:nvGrpSpPr>
        <p:grpSpPr>
          <a:xfrm>
            <a:off x="66675" y="2171128"/>
            <a:ext cx="476250" cy="419100"/>
            <a:chOff x="66675" y="2171128"/>
            <a:chExt cx="476250" cy="419100"/>
          </a:xfrm>
        </p:grpSpPr>
        <p:sp>
          <p:nvSpPr>
            <p:cNvPr id="36" name="s:1 圆"/>
            <p:cNvSpPr/>
            <p:nvPr/>
          </p:nvSpPr>
          <p:spPr>
            <a:xfrm>
              <a:off x="186690" y="2270760"/>
              <a:ext cx="236220" cy="23622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7" name="s:1 文字"/>
            <p:cNvSpPr txBox="1"/>
            <p:nvPr/>
          </p:nvSpPr>
          <p:spPr>
            <a:xfrm>
              <a:off x="66675" y="2171128"/>
              <a:ext cx="47625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  <a:latin typeface="Calibri"/>
                  <a:ea typeface="Source Han Sans CN"/>
                </a:rPr>
                <a:t>1</a:t>
              </a:r>
            </a:p>
          </p:txBody>
        </p:sp>
      </p:grpSp>
      <p:grpSp>
        <p:nvGrpSpPr>
          <p:cNvPr id="101" name="s:2 step 2"/>
          <p:cNvGrpSpPr/>
          <p:nvPr/>
        </p:nvGrpSpPr>
        <p:grpSpPr>
          <a:xfrm>
            <a:off x="1670685" y="2171128"/>
            <a:ext cx="476250" cy="419100"/>
            <a:chOff x="1670685" y="2171128"/>
            <a:chExt cx="476250" cy="419100"/>
          </a:xfrm>
        </p:grpSpPr>
        <p:sp>
          <p:nvSpPr>
            <p:cNvPr id="38" name="s:2 圆"/>
            <p:cNvSpPr/>
            <p:nvPr/>
          </p:nvSpPr>
          <p:spPr>
            <a:xfrm>
              <a:off x="1790700" y="2270760"/>
              <a:ext cx="236220" cy="23622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9" name="s:2 文字"/>
            <p:cNvSpPr txBox="1"/>
            <p:nvPr/>
          </p:nvSpPr>
          <p:spPr>
            <a:xfrm>
              <a:off x="1670685" y="2171128"/>
              <a:ext cx="47625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  <a:latin typeface="Calibri"/>
                  <a:ea typeface="Source Han Sans CN"/>
                </a:rPr>
                <a:t>2</a:t>
              </a:r>
            </a:p>
          </p:txBody>
        </p:sp>
      </p:grpSp>
      <p:grpSp>
        <p:nvGrpSpPr>
          <p:cNvPr id="102" name="s:3 step 3"/>
          <p:cNvGrpSpPr/>
          <p:nvPr/>
        </p:nvGrpSpPr>
        <p:grpSpPr>
          <a:xfrm>
            <a:off x="2089785" y="677608"/>
            <a:ext cx="476250" cy="419100"/>
            <a:chOff x="2089785" y="677608"/>
            <a:chExt cx="476250" cy="419100"/>
          </a:xfrm>
        </p:grpSpPr>
        <p:sp>
          <p:nvSpPr>
            <p:cNvPr id="40" name="s:3 圆"/>
            <p:cNvSpPr/>
            <p:nvPr/>
          </p:nvSpPr>
          <p:spPr>
            <a:xfrm>
              <a:off x="2209800" y="777240"/>
              <a:ext cx="236220" cy="23622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1" name="s:3 文字"/>
            <p:cNvSpPr txBox="1"/>
            <p:nvPr/>
          </p:nvSpPr>
          <p:spPr>
            <a:xfrm>
              <a:off x="2089785" y="677608"/>
              <a:ext cx="47625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  <a:latin typeface="Calibri"/>
                  <a:ea typeface="Source Han Sans CN"/>
                </a:rPr>
                <a:t>3</a:t>
              </a:r>
            </a:p>
          </p:txBody>
        </p:sp>
      </p:grpSp>
      <p:grpSp>
        <p:nvGrpSpPr>
          <p:cNvPr id="103" name="s:4 step 4"/>
          <p:cNvGrpSpPr/>
          <p:nvPr/>
        </p:nvGrpSpPr>
        <p:grpSpPr>
          <a:xfrm>
            <a:off x="2775585" y="2171128"/>
            <a:ext cx="476250" cy="419100"/>
            <a:chOff x="2775585" y="2171128"/>
            <a:chExt cx="476250" cy="419100"/>
          </a:xfrm>
        </p:grpSpPr>
        <p:sp>
          <p:nvSpPr>
            <p:cNvPr id="42" name="s:4 圆"/>
            <p:cNvSpPr/>
            <p:nvPr/>
          </p:nvSpPr>
          <p:spPr>
            <a:xfrm>
              <a:off x="2895599" y="2270760"/>
              <a:ext cx="236220" cy="236220"/>
            </a:xfrm>
            <a:prstGeom prst="ellipse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3" name="s:4 文字"/>
            <p:cNvSpPr txBox="1"/>
            <p:nvPr/>
          </p:nvSpPr>
          <p:spPr>
            <a:xfrm>
              <a:off x="2775585" y="2171128"/>
              <a:ext cx="476250" cy="419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500" b="1" i="0">
                  <a:solidFill>
                    <a:srgbClr val="FFFFFF"/>
                  </a:solidFill>
                  <a:latin typeface="Calibri"/>
                  <a:ea typeface="Source Han Sans CN"/>
                </a:rPr>
                <a:t>4</a:t>
              </a:r>
            </a:p>
          </p:txBody>
        </p:sp>
      </p:grpSp>
      <p:grpSp>
        <p:nvGrpSpPr>
          <p:cNvPr id="104" name="a:a-bucket bucket"/>
          <p:cNvGrpSpPr/>
          <p:nvPr/>
        </p:nvGrpSpPr>
        <p:grpSpPr>
          <a:xfrm>
            <a:off x="762000" y="3233451"/>
            <a:ext cx="3009900" cy="544830"/>
            <a:chOff x="762000" y="3233451"/>
            <a:chExt cx="3009900" cy="544830"/>
          </a:xfrm>
        </p:grpSpPr>
        <p:sp>
          <p:nvSpPr>
            <p:cNvPr id="44" name="a:a-bucket 线"/>
            <p:cNvSpPr/>
            <p:nvPr/>
          </p:nvSpPr>
          <p:spPr>
            <a:xfrm>
              <a:off x="762000" y="3516629"/>
              <a:ext cx="3009900" cy="95250"/>
            </a:xfrm>
            <a:custGeom>
              <a:avLst/>
              <a:gdLst/>
              <a:ahLst/>
              <a:cxnLst/>
              <a:rect l="0" t="0" r="r" b="b"/>
              <a:pathLst>
                <a:path w="79000" h="2500" fill="none">
                  <a:moveTo>
                    <a:pt x="0" y="2500"/>
                  </a:moveTo>
                  <a:lnTo>
                    <a:pt x="0" y="0"/>
                  </a:lnTo>
                  <a:lnTo>
                    <a:pt x="29550" y="0"/>
                  </a:lnTo>
                  <a:moveTo>
                    <a:pt x="49450" y="0"/>
                  </a:moveTo>
                  <a:lnTo>
                    <a:pt x="79000" y="0"/>
                  </a:lnTo>
                  <a:lnTo>
                    <a:pt x="79000" y="2500"/>
                  </a:lnTo>
                </a:path>
              </a:pathLst>
            </a:custGeom>
            <a:noFill/>
            <a:ln w="19050" cap="flat">
              <a:solidFill>
                <a:srgbClr val="595959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a:a-bucket 文字"/>
            <p:cNvSpPr txBox="1"/>
            <p:nvPr/>
          </p:nvSpPr>
          <p:spPr>
            <a:xfrm>
              <a:off x="1678304" y="3233451"/>
              <a:ext cx="117728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bucket</a:t>
              </a:r>
            </a:p>
          </p:txBody>
        </p:sp>
      </p:grpSp>
      <p:cxnSp>
        <p:nvCxnSpPr>
          <p:cNvPr id="46" name="线"/>
          <p:cNvCxnSpPr/>
          <p:nvPr/>
        </p:nvCxnSpPr>
        <p:spPr>
          <a:xfrm>
            <a:off x="4133850" y="114300"/>
            <a:ext cx="0" cy="4457700"/>
          </a:xfrm>
          <a:prstGeom prst="line">
            <a:avLst/>
          </a:prstGeom>
          <a:ln w="19050" cap="flat">
            <a:solidFill>
              <a:srgbClr val="A6A6A6"/>
            </a:solidFill>
            <a:custDash>
              <a:ds d="400000" sp="300000"/>
            </a:custDash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p:p-cen"/>
          <p:cNvGrpSpPr/>
          <p:nvPr/>
        </p:nvGrpSpPr>
        <p:grpSpPr>
          <a:xfrm>
            <a:off x="4229100" y="504634"/>
            <a:ext cx="1524000" cy="3604070"/>
            <a:chOff x="4229100" y="504634"/>
            <a:chExt cx="1524000" cy="3604070"/>
          </a:xfrm>
        </p:grpSpPr>
        <p:sp>
          <p:nvSpPr>
            <p:cNvPr id="47" name="p:p-cen 文字"/>
            <p:cNvSpPr txBox="1"/>
            <p:nvPr/>
          </p:nvSpPr>
          <p:spPr>
            <a:xfrm>
              <a:off x="4231005" y="504634"/>
              <a:ext cx="1520189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1" i="0">
                  <a:solidFill>
                    <a:srgbClr val="1A1A1A"/>
                  </a:solidFill>
                  <a:latin typeface="Calibri"/>
                  <a:ea typeface="Source Han Sans CN"/>
                </a:rPr>
                <a:t>CentralQ</a:t>
              </a:r>
            </a:p>
          </p:txBody>
        </p:sp>
        <p:sp>
          <p:nvSpPr>
            <p:cNvPr id="48" name="p:p-cen 框"/>
            <p:cNvSpPr/>
            <p:nvPr/>
          </p:nvSpPr>
          <p:spPr>
            <a:xfrm>
              <a:off x="4305300" y="2266950"/>
              <a:ext cx="1371600" cy="533400"/>
            </a:xfrm>
            <a:prstGeom prst="roundRect">
              <a:avLst>
                <a:gd name="adj" fmla="val 10714"/>
              </a:avLst>
            </a:prstGeom>
            <a:solidFill>
              <a:srgbClr val="E7E6E6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9" name="p:p-cen 文字"/>
            <p:cNvSpPr txBox="1"/>
            <p:nvPr/>
          </p:nvSpPr>
          <p:spPr>
            <a:xfrm>
              <a:off x="4461509" y="2250471"/>
              <a:ext cx="10591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Proxy</a:t>
              </a:r>
            </a:p>
          </p:txBody>
        </p:sp>
        <p:cxnSp>
          <p:nvCxnSpPr>
            <p:cNvPr id="50" name="p:p-cen 线"/>
            <p:cNvCxnSpPr/>
            <p:nvPr/>
          </p:nvCxnSpPr>
          <p:spPr>
            <a:xfrm>
              <a:off x="4610100" y="1543050"/>
              <a:ext cx="0" cy="72390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p:p-cen 线"/>
            <p:cNvCxnSpPr/>
            <p:nvPr/>
          </p:nvCxnSpPr>
          <p:spPr>
            <a:xfrm>
              <a:off x="5372100" y="1543050"/>
              <a:ext cx="0" cy="72390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p:p-cen 线"/>
            <p:cNvCxnSpPr/>
            <p:nvPr/>
          </p:nvCxnSpPr>
          <p:spPr>
            <a:xfrm>
              <a:off x="4991100" y="2800350"/>
              <a:ext cx="0" cy="87630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p:p-cen 框"/>
            <p:cNvSpPr/>
            <p:nvPr/>
          </p:nvSpPr>
          <p:spPr>
            <a:xfrm>
              <a:off x="4305300" y="1143000"/>
              <a:ext cx="6096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4" name="p:p-cen 文字"/>
            <p:cNvSpPr txBox="1"/>
            <p:nvPr/>
          </p:nvSpPr>
          <p:spPr>
            <a:xfrm>
              <a:off x="4229100" y="1081659"/>
              <a:ext cx="7620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  <p:sp>
          <p:nvSpPr>
            <p:cNvPr id="55" name="p:p-cen 框"/>
            <p:cNvSpPr/>
            <p:nvPr/>
          </p:nvSpPr>
          <p:spPr>
            <a:xfrm>
              <a:off x="5067300" y="1143000"/>
              <a:ext cx="6096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6" name="p:p-cen 文字"/>
            <p:cNvSpPr txBox="1"/>
            <p:nvPr/>
          </p:nvSpPr>
          <p:spPr>
            <a:xfrm>
              <a:off x="4991100" y="1081659"/>
              <a:ext cx="7620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  <p:sp>
          <p:nvSpPr>
            <p:cNvPr id="57" name="p:p-cen 框"/>
            <p:cNvSpPr/>
            <p:nvPr/>
          </p:nvSpPr>
          <p:spPr>
            <a:xfrm>
              <a:off x="4686300" y="3676650"/>
              <a:ext cx="609600" cy="381000"/>
            </a:xfrm>
            <a:prstGeom prst="rect">
              <a:avLst/>
            </a:prstGeom>
            <a:solidFill>
              <a:srgbClr val="ED7D31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8" name="p:p-cen 文字"/>
            <p:cNvSpPr txBox="1"/>
            <p:nvPr/>
          </p:nvSpPr>
          <p:spPr>
            <a:xfrm>
              <a:off x="4585334" y="3605784"/>
              <a:ext cx="81153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A1A1A"/>
                  </a:solidFill>
                  <a:latin typeface="Calibri"/>
                  <a:ea typeface="Source Han Sans CN"/>
                </a:rPr>
                <a:t>QM</a:t>
              </a:r>
            </a:p>
          </p:txBody>
        </p:sp>
      </p:grpSp>
      <p:grpSp>
        <p:nvGrpSpPr>
          <p:cNvPr id="106" name="p:p-side"/>
          <p:cNvGrpSpPr/>
          <p:nvPr/>
        </p:nvGrpSpPr>
        <p:grpSpPr>
          <a:xfrm>
            <a:off x="5861684" y="504634"/>
            <a:ext cx="1573530" cy="2295716"/>
            <a:chOff x="5861684" y="504634"/>
            <a:chExt cx="1573530" cy="2295716"/>
          </a:xfrm>
        </p:grpSpPr>
        <p:sp>
          <p:nvSpPr>
            <p:cNvPr id="59" name="p:p-side 文字"/>
            <p:cNvSpPr txBox="1"/>
            <p:nvPr/>
          </p:nvSpPr>
          <p:spPr>
            <a:xfrm>
              <a:off x="5886450" y="504634"/>
              <a:ext cx="152400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1" i="0">
                  <a:solidFill>
                    <a:srgbClr val="1A1A1A"/>
                  </a:solidFill>
                  <a:latin typeface="Calibri"/>
                  <a:ea typeface="Source Han Sans CN"/>
                </a:rPr>
                <a:t>SidecarQ</a:t>
              </a:r>
            </a:p>
          </p:txBody>
        </p:sp>
        <p:sp>
          <p:nvSpPr>
            <p:cNvPr id="60" name="p:p-side 框"/>
            <p:cNvSpPr/>
            <p:nvPr/>
          </p:nvSpPr>
          <p:spPr>
            <a:xfrm>
              <a:off x="5962650" y="2266950"/>
              <a:ext cx="1371600" cy="533400"/>
            </a:xfrm>
            <a:prstGeom prst="roundRect">
              <a:avLst>
                <a:gd name="adj" fmla="val 10714"/>
              </a:avLst>
            </a:prstGeom>
            <a:solidFill>
              <a:srgbClr val="E7E6E6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1" name="p:p-side 文字"/>
            <p:cNvSpPr txBox="1"/>
            <p:nvPr/>
          </p:nvSpPr>
          <p:spPr>
            <a:xfrm>
              <a:off x="6118859" y="2250471"/>
              <a:ext cx="10591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Proxy</a:t>
              </a:r>
            </a:p>
          </p:txBody>
        </p:sp>
        <p:cxnSp>
          <p:nvCxnSpPr>
            <p:cNvPr id="62" name="p:p-side 线"/>
            <p:cNvCxnSpPr/>
            <p:nvPr/>
          </p:nvCxnSpPr>
          <p:spPr>
            <a:xfrm>
              <a:off x="6267450" y="1943100"/>
              <a:ext cx="0" cy="32385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p:p-side 线"/>
            <p:cNvCxnSpPr/>
            <p:nvPr/>
          </p:nvCxnSpPr>
          <p:spPr>
            <a:xfrm>
              <a:off x="7029450" y="1943100"/>
              <a:ext cx="0" cy="32385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p:p-side 框"/>
            <p:cNvSpPr/>
            <p:nvPr/>
          </p:nvSpPr>
          <p:spPr>
            <a:xfrm>
              <a:off x="5962650" y="1143000"/>
              <a:ext cx="6096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5" name="p:p-side 文字"/>
            <p:cNvSpPr txBox="1"/>
            <p:nvPr/>
          </p:nvSpPr>
          <p:spPr>
            <a:xfrm>
              <a:off x="5886450" y="1081659"/>
              <a:ext cx="7620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  <p:sp>
          <p:nvSpPr>
            <p:cNvPr id="66" name="p:p-side 框"/>
            <p:cNvSpPr/>
            <p:nvPr/>
          </p:nvSpPr>
          <p:spPr>
            <a:xfrm>
              <a:off x="6724650" y="1143000"/>
              <a:ext cx="6096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7" name="p:p-side 文字"/>
            <p:cNvSpPr txBox="1"/>
            <p:nvPr/>
          </p:nvSpPr>
          <p:spPr>
            <a:xfrm>
              <a:off x="6648450" y="1081659"/>
              <a:ext cx="7620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  <p:sp>
          <p:nvSpPr>
            <p:cNvPr id="68" name="p:p-side 框"/>
            <p:cNvSpPr/>
            <p:nvPr/>
          </p:nvSpPr>
          <p:spPr>
            <a:xfrm>
              <a:off x="5962650" y="1543050"/>
              <a:ext cx="609600" cy="400050"/>
            </a:xfrm>
            <a:prstGeom prst="rect">
              <a:avLst/>
            </a:prstGeom>
            <a:solidFill>
              <a:srgbClr val="ED7D31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9" name="p:p-side 文字"/>
            <p:cNvSpPr txBox="1"/>
            <p:nvPr/>
          </p:nvSpPr>
          <p:spPr>
            <a:xfrm>
              <a:off x="5861684" y="1481709"/>
              <a:ext cx="81153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A1A1A"/>
                  </a:solidFill>
                  <a:latin typeface="Calibri"/>
                  <a:ea typeface="Source Han Sans CN"/>
                </a:rPr>
                <a:t>QM</a:t>
              </a:r>
            </a:p>
          </p:txBody>
        </p:sp>
        <p:sp>
          <p:nvSpPr>
            <p:cNvPr id="70" name="p:p-side 框"/>
            <p:cNvSpPr/>
            <p:nvPr/>
          </p:nvSpPr>
          <p:spPr>
            <a:xfrm>
              <a:off x="6724650" y="1543050"/>
              <a:ext cx="609600" cy="400050"/>
            </a:xfrm>
            <a:prstGeom prst="rect">
              <a:avLst/>
            </a:prstGeom>
            <a:solidFill>
              <a:srgbClr val="ED7D31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1" name="p:p-side 文字"/>
            <p:cNvSpPr txBox="1"/>
            <p:nvPr/>
          </p:nvSpPr>
          <p:spPr>
            <a:xfrm>
              <a:off x="6623684" y="1481709"/>
              <a:ext cx="81153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A1A1A"/>
                  </a:solidFill>
                  <a:latin typeface="Calibri"/>
                  <a:ea typeface="Source Han Sans CN"/>
                </a:rPr>
                <a:t>QM</a:t>
              </a:r>
            </a:p>
          </p:txBody>
        </p:sp>
      </p:grpSp>
      <p:grpSp>
        <p:nvGrpSpPr>
          <p:cNvPr id="107" name="p:p-edge"/>
          <p:cNvGrpSpPr/>
          <p:nvPr/>
        </p:nvGrpSpPr>
        <p:grpSpPr>
          <a:xfrm>
            <a:off x="7490459" y="504634"/>
            <a:ext cx="1927860" cy="3604070"/>
            <a:chOff x="7490459" y="504634"/>
            <a:chExt cx="1927860" cy="3604070"/>
          </a:xfrm>
        </p:grpSpPr>
        <p:sp>
          <p:nvSpPr>
            <p:cNvPr id="72" name="p:p-edge 文字"/>
            <p:cNvSpPr txBox="1"/>
            <p:nvPr/>
          </p:nvSpPr>
          <p:spPr>
            <a:xfrm>
              <a:off x="7680959" y="504634"/>
              <a:ext cx="124968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1" i="0">
                  <a:solidFill>
                    <a:srgbClr val="1A1A1A"/>
                  </a:solidFill>
                  <a:latin typeface="Calibri"/>
                  <a:ea typeface="Source Han Sans CN"/>
                </a:rPr>
                <a:t>EdgeQ</a:t>
              </a:r>
            </a:p>
          </p:txBody>
        </p:sp>
        <p:sp>
          <p:nvSpPr>
            <p:cNvPr id="73" name="p:p-edge 框"/>
            <p:cNvSpPr/>
            <p:nvPr/>
          </p:nvSpPr>
          <p:spPr>
            <a:xfrm>
              <a:off x="7620000" y="2266950"/>
              <a:ext cx="1371600" cy="533400"/>
            </a:xfrm>
            <a:prstGeom prst="roundRect">
              <a:avLst>
                <a:gd name="adj" fmla="val 10714"/>
              </a:avLst>
            </a:prstGeom>
            <a:solidFill>
              <a:srgbClr val="E7E6E6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4" name="p:p-edge 文字"/>
            <p:cNvSpPr txBox="1"/>
            <p:nvPr/>
          </p:nvSpPr>
          <p:spPr>
            <a:xfrm>
              <a:off x="7490459" y="2250471"/>
              <a:ext cx="10591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1A1A1A"/>
                  </a:solidFill>
                  <a:latin typeface="Calibri"/>
                  <a:ea typeface="Source Han Sans CN"/>
                </a:rPr>
                <a:t>Proxy</a:t>
              </a:r>
            </a:p>
          </p:txBody>
        </p:sp>
        <p:cxnSp>
          <p:nvCxnSpPr>
            <p:cNvPr id="75" name="p:p-edge 线"/>
            <p:cNvCxnSpPr/>
            <p:nvPr/>
          </p:nvCxnSpPr>
          <p:spPr>
            <a:xfrm>
              <a:off x="7924800" y="1543050"/>
              <a:ext cx="0" cy="72390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p:p-edge 线"/>
            <p:cNvCxnSpPr/>
            <p:nvPr/>
          </p:nvCxnSpPr>
          <p:spPr>
            <a:xfrm>
              <a:off x="8686800" y="1543050"/>
              <a:ext cx="0" cy="72390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p:p-edge 线"/>
            <p:cNvCxnSpPr/>
            <p:nvPr/>
          </p:nvCxnSpPr>
          <p:spPr>
            <a:xfrm>
              <a:off x="8305800" y="2800350"/>
              <a:ext cx="0" cy="876300"/>
            </a:xfrm>
            <a:prstGeom prst="line">
              <a:avLst/>
            </a:prstGeom>
            <a:ln w="19050" cap="flat">
              <a:solidFill>
                <a:srgbClr val="7F7F7F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p:p-edge 框"/>
            <p:cNvSpPr/>
            <p:nvPr/>
          </p:nvSpPr>
          <p:spPr>
            <a:xfrm>
              <a:off x="7620000" y="1143000"/>
              <a:ext cx="6096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9" name="p:p-edge 文字"/>
            <p:cNvSpPr txBox="1"/>
            <p:nvPr/>
          </p:nvSpPr>
          <p:spPr>
            <a:xfrm>
              <a:off x="7543800" y="1081659"/>
              <a:ext cx="7620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  <p:sp>
          <p:nvSpPr>
            <p:cNvPr id="80" name="p:p-edge 框"/>
            <p:cNvSpPr/>
            <p:nvPr/>
          </p:nvSpPr>
          <p:spPr>
            <a:xfrm>
              <a:off x="8382000" y="1143000"/>
              <a:ext cx="609600" cy="400050"/>
            </a:xfrm>
            <a:prstGeom prst="rect">
              <a:avLst/>
            </a:prstGeom>
            <a:solidFill>
              <a:srgbClr val="DAE8FC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1" name="p:p-edge 文字"/>
            <p:cNvSpPr txBox="1"/>
            <p:nvPr/>
          </p:nvSpPr>
          <p:spPr>
            <a:xfrm>
              <a:off x="8305800" y="1081659"/>
              <a:ext cx="76200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0">
                  <a:solidFill>
                    <a:srgbClr val="1A1A1A"/>
                  </a:solidFill>
                  <a:latin typeface="Calibri"/>
                  <a:ea typeface="Source Han Sans CN"/>
                </a:rPr>
                <a:t>Svc</a:t>
              </a:r>
            </a:p>
          </p:txBody>
        </p:sp>
        <p:sp>
          <p:nvSpPr>
            <p:cNvPr id="82" name="p:p-edge 框"/>
            <p:cNvSpPr/>
            <p:nvPr/>
          </p:nvSpPr>
          <p:spPr>
            <a:xfrm>
              <a:off x="8420100" y="2343150"/>
              <a:ext cx="533400" cy="381000"/>
            </a:xfrm>
            <a:prstGeom prst="rect">
              <a:avLst/>
            </a:prstGeom>
            <a:solidFill>
              <a:srgbClr val="ED7D31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3" name="p:p-edge 文字"/>
            <p:cNvSpPr txBox="1"/>
            <p:nvPr/>
          </p:nvSpPr>
          <p:spPr>
            <a:xfrm>
              <a:off x="8281034" y="2272284"/>
              <a:ext cx="81153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A1A1A"/>
                  </a:solidFill>
                  <a:latin typeface="Calibri"/>
                  <a:ea typeface="Source Han Sans CN"/>
                </a:rPr>
                <a:t>QM</a:t>
              </a:r>
            </a:p>
          </p:txBody>
        </p:sp>
        <p:sp>
          <p:nvSpPr>
            <p:cNvPr id="84" name="p:p-edge 框"/>
            <p:cNvSpPr/>
            <p:nvPr/>
          </p:nvSpPr>
          <p:spPr>
            <a:xfrm>
              <a:off x="8001000" y="3676650"/>
              <a:ext cx="609600" cy="381000"/>
            </a:xfrm>
            <a:prstGeom prst="rect">
              <a:avLst/>
            </a:prstGeom>
            <a:solidFill>
              <a:srgbClr val="ED7D31"/>
            </a:solidFill>
            <a:ln w="19050" cap="flat">
              <a:solidFill>
                <a:srgbClr val="40404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5" name="p:p-edge 文字"/>
            <p:cNvSpPr txBox="1"/>
            <p:nvPr/>
          </p:nvSpPr>
          <p:spPr>
            <a:xfrm>
              <a:off x="7900034" y="3605784"/>
              <a:ext cx="811530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1" i="0">
                  <a:solidFill>
                    <a:srgbClr val="1A1A1A"/>
                  </a:solidFill>
                  <a:latin typeface="Calibri"/>
                  <a:ea typeface="Source Han Sans CN"/>
                </a:rPr>
                <a:t>QM</a:t>
              </a:r>
            </a:p>
          </p:txBody>
        </p:sp>
        <p:sp>
          <p:nvSpPr>
            <p:cNvPr id="86" name="p:p-edge 文字"/>
            <p:cNvSpPr txBox="1"/>
            <p:nvPr/>
          </p:nvSpPr>
          <p:spPr>
            <a:xfrm>
              <a:off x="8212455" y="2713101"/>
              <a:ext cx="94868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800" b="0" i="1">
                  <a:solidFill>
                    <a:srgbClr val="595959"/>
                  </a:solidFill>
                  <a:latin typeface="Calibri"/>
                  <a:ea typeface="Source Han Sans CN"/>
                </a:rPr>
                <a:t>top-k</a:t>
              </a:r>
            </a:p>
          </p:txBody>
        </p:sp>
        <p:sp>
          <p:nvSpPr>
            <p:cNvPr id="87" name="p:p-edge 文字"/>
            <p:cNvSpPr txBox="1"/>
            <p:nvPr/>
          </p:nvSpPr>
          <p:spPr>
            <a:xfrm>
              <a:off x="8667750" y="3605784"/>
              <a:ext cx="750569" cy="5029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800" b="0" i="1">
                  <a:solidFill>
                    <a:srgbClr val="595959"/>
                  </a:solidFill>
                  <a:latin typeface="Calibri"/>
                  <a:ea typeface="Source Han Sans CN"/>
                </a:rPr>
                <a:t>tail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