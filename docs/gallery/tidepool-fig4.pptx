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框"/>
          <p:cNvSpPr/>
          <p:nvPr/>
        </p:nvSpPr>
        <p:spPr>
          <a:xfrm>
            <a:off x="0" y="0"/>
            <a:ext cx="9144000" cy="560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pSp>
        <p:nvGrpSpPr>
          <p:cNvPr id="124" name="p:p-base"/>
          <p:cNvGrpSpPr/>
          <p:nvPr/>
        </p:nvGrpSpPr>
        <p:grpSpPr>
          <a:xfrm>
            <a:off x="-316229" y="-9715"/>
            <a:ext cx="9269728" cy="2352865"/>
            <a:chOff x="-316229" y="-9715"/>
            <a:chExt cx="9269728" cy="2352865"/>
          </a:xfrm>
        </p:grpSpPr>
        <p:sp>
          <p:nvSpPr>
            <p:cNvPr id="3" name="p:p-base 文字"/>
            <p:cNvSpPr txBox="1"/>
            <p:nvPr/>
          </p:nvSpPr>
          <p:spPr>
            <a:xfrm>
              <a:off x="152399" y="-9715"/>
              <a:ext cx="461772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100" b="1" i="0">
                  <a:solidFill>
                    <a:srgbClr val="0D0D0D"/>
                  </a:solidFill>
                  <a:latin typeface="Helvetica Neue"/>
                  <a:ea typeface="Source Han Sans CN"/>
                </a:rPr>
                <a:t>(a) Baseline: transfer after prefill</a:t>
              </a:r>
            </a:p>
          </p:txBody>
        </p:sp>
        <p:sp>
          <p:nvSpPr>
            <p:cNvPr id="4" name="p:p-base 框"/>
            <p:cNvSpPr/>
            <p:nvPr/>
          </p:nvSpPr>
          <p:spPr>
            <a:xfrm>
              <a:off x="1790700" y="514350"/>
              <a:ext cx="7132319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" name="p:p-base 文字"/>
            <p:cNvSpPr txBox="1"/>
            <p:nvPr/>
          </p:nvSpPr>
          <p:spPr>
            <a:xfrm>
              <a:off x="-76200" y="507777"/>
              <a:ext cx="171450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Prefill GPU</a:t>
              </a:r>
            </a:p>
          </p:txBody>
        </p:sp>
        <p:sp>
          <p:nvSpPr>
            <p:cNvPr id="6" name="p:p-base 框"/>
            <p:cNvSpPr/>
            <p:nvPr/>
          </p:nvSpPr>
          <p:spPr>
            <a:xfrm>
              <a:off x="5082540" y="571500"/>
              <a:ext cx="2468879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" name="p:p-base 线"/>
            <p:cNvSpPr/>
            <p:nvPr/>
          </p:nvSpPr>
          <p:spPr>
            <a:xfrm>
              <a:off x="5082540" y="571500"/>
              <a:ext cx="2468879" cy="419100"/>
            </a:xfrm>
            <a:custGeom>
              <a:avLst/>
              <a:gdLst/>
              <a:ahLst/>
              <a:cxnLst/>
              <a:rect l="0" t="0" r="r" b="b"/>
              <a:pathLst>
                <a:path w="64799" h="11000" fill="none">
                  <a:moveTo>
                    <a:pt x="0" y="1600"/>
                  </a:moveTo>
                  <a:lnTo>
                    <a:pt x="1600" y="0"/>
                  </a:lnTo>
                  <a:moveTo>
                    <a:pt x="0" y="4600"/>
                  </a:moveTo>
                  <a:lnTo>
                    <a:pt x="4600" y="0"/>
                  </a:lnTo>
                  <a:moveTo>
                    <a:pt x="0" y="7600"/>
                  </a:moveTo>
                  <a:lnTo>
                    <a:pt x="7600" y="0"/>
                  </a:lnTo>
                  <a:moveTo>
                    <a:pt x="0" y="10600"/>
                  </a:moveTo>
                  <a:lnTo>
                    <a:pt x="10600" y="0"/>
                  </a:lnTo>
                  <a:moveTo>
                    <a:pt x="2600" y="11000"/>
                  </a:moveTo>
                  <a:lnTo>
                    <a:pt x="13600" y="0"/>
                  </a:lnTo>
                  <a:moveTo>
                    <a:pt x="5600" y="11000"/>
                  </a:moveTo>
                  <a:lnTo>
                    <a:pt x="16600" y="0"/>
                  </a:lnTo>
                  <a:moveTo>
                    <a:pt x="8600" y="11000"/>
                  </a:moveTo>
                  <a:lnTo>
                    <a:pt x="19600" y="0"/>
                  </a:lnTo>
                  <a:moveTo>
                    <a:pt x="11600" y="11000"/>
                  </a:moveTo>
                  <a:lnTo>
                    <a:pt x="22600" y="0"/>
                  </a:lnTo>
                  <a:moveTo>
                    <a:pt x="14600" y="11000"/>
                  </a:moveTo>
                  <a:lnTo>
                    <a:pt x="25600" y="0"/>
                  </a:lnTo>
                  <a:moveTo>
                    <a:pt x="17600" y="11000"/>
                  </a:moveTo>
                  <a:lnTo>
                    <a:pt x="28600" y="0"/>
                  </a:lnTo>
                  <a:moveTo>
                    <a:pt x="20600" y="11000"/>
                  </a:moveTo>
                  <a:lnTo>
                    <a:pt x="31600" y="0"/>
                  </a:lnTo>
                  <a:moveTo>
                    <a:pt x="23600" y="11000"/>
                  </a:moveTo>
                  <a:lnTo>
                    <a:pt x="34600" y="0"/>
                  </a:lnTo>
                  <a:moveTo>
                    <a:pt x="26600" y="11000"/>
                  </a:moveTo>
                  <a:lnTo>
                    <a:pt x="37600" y="0"/>
                  </a:lnTo>
                  <a:moveTo>
                    <a:pt x="29600" y="11000"/>
                  </a:moveTo>
                  <a:lnTo>
                    <a:pt x="40600" y="0"/>
                  </a:lnTo>
                  <a:moveTo>
                    <a:pt x="32600" y="11000"/>
                  </a:moveTo>
                  <a:lnTo>
                    <a:pt x="43600" y="0"/>
                  </a:lnTo>
                  <a:moveTo>
                    <a:pt x="35600" y="11000"/>
                  </a:moveTo>
                  <a:lnTo>
                    <a:pt x="46600" y="0"/>
                  </a:lnTo>
                  <a:moveTo>
                    <a:pt x="38600" y="11000"/>
                  </a:moveTo>
                  <a:lnTo>
                    <a:pt x="49600" y="0"/>
                  </a:lnTo>
                  <a:moveTo>
                    <a:pt x="41600" y="11000"/>
                  </a:moveTo>
                  <a:lnTo>
                    <a:pt x="52600" y="0"/>
                  </a:lnTo>
                  <a:moveTo>
                    <a:pt x="44600" y="11000"/>
                  </a:moveTo>
                  <a:lnTo>
                    <a:pt x="55600" y="0"/>
                  </a:lnTo>
                  <a:moveTo>
                    <a:pt x="47600" y="11000"/>
                  </a:moveTo>
                  <a:lnTo>
                    <a:pt x="58600" y="0"/>
                  </a:lnTo>
                  <a:moveTo>
                    <a:pt x="50600" y="11000"/>
                  </a:moveTo>
                  <a:lnTo>
                    <a:pt x="61600" y="0"/>
                  </a:lnTo>
                  <a:moveTo>
                    <a:pt x="53600" y="11000"/>
                  </a:moveTo>
                  <a:lnTo>
                    <a:pt x="64600" y="0"/>
                  </a:lnTo>
                  <a:moveTo>
                    <a:pt x="56600" y="11000"/>
                  </a:moveTo>
                  <a:lnTo>
                    <a:pt x="64800" y="2800"/>
                  </a:lnTo>
                  <a:moveTo>
                    <a:pt x="59600" y="11000"/>
                  </a:moveTo>
                  <a:lnTo>
                    <a:pt x="64800" y="5800"/>
                  </a:lnTo>
                  <a:moveTo>
                    <a:pt x="62600" y="11000"/>
                  </a:moveTo>
                  <a:lnTo>
                    <a:pt x="64800" y="88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p:p-base 框"/>
            <p:cNvSpPr/>
            <p:nvPr/>
          </p:nvSpPr>
          <p:spPr>
            <a:xfrm>
              <a:off x="1790700" y="1200150"/>
              <a:ext cx="7132319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" name="p:p-base 文字"/>
            <p:cNvSpPr txBox="1"/>
            <p:nvPr/>
          </p:nvSpPr>
          <p:spPr>
            <a:xfrm>
              <a:off x="-95250" y="1058322"/>
              <a:ext cx="17335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KV transfer</a:t>
              </a:r>
            </a:p>
          </p:txBody>
        </p:sp>
        <p:sp>
          <p:nvSpPr>
            <p:cNvPr id="10" name="p:p-base 文字"/>
            <p:cNvSpPr txBox="1"/>
            <p:nvPr/>
          </p:nvSpPr>
          <p:spPr>
            <a:xfrm>
              <a:off x="247650" y="1325022"/>
              <a:ext cx="13906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(RDMA)</a:t>
              </a:r>
            </a:p>
          </p:txBody>
        </p:sp>
        <p:sp>
          <p:nvSpPr>
            <p:cNvPr id="11" name="p:p-base 框"/>
            <p:cNvSpPr/>
            <p:nvPr/>
          </p:nvSpPr>
          <p:spPr>
            <a:xfrm>
              <a:off x="1790700" y="1257300"/>
              <a:ext cx="3291840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2" name="p:p-base 线"/>
            <p:cNvSpPr/>
            <p:nvPr/>
          </p:nvSpPr>
          <p:spPr>
            <a:xfrm>
              <a:off x="1790700" y="1257300"/>
              <a:ext cx="3291840" cy="419100"/>
            </a:xfrm>
            <a:custGeom>
              <a:avLst/>
              <a:gdLst/>
              <a:ahLst/>
              <a:cxnLst/>
              <a:rect l="0" t="0" r="r" b="b"/>
              <a:pathLst>
                <a:path w="86400" h="11000" fill="none">
                  <a:moveTo>
                    <a:pt x="0" y="1000"/>
                  </a:moveTo>
                  <a:lnTo>
                    <a:pt x="1000" y="0"/>
                  </a:lnTo>
                  <a:moveTo>
                    <a:pt x="0" y="4000"/>
                  </a:moveTo>
                  <a:lnTo>
                    <a:pt x="4000" y="0"/>
                  </a:lnTo>
                  <a:moveTo>
                    <a:pt x="0" y="7000"/>
                  </a:moveTo>
                  <a:lnTo>
                    <a:pt x="7000" y="0"/>
                  </a:lnTo>
                  <a:moveTo>
                    <a:pt x="0" y="10000"/>
                  </a:moveTo>
                  <a:lnTo>
                    <a:pt x="10000" y="0"/>
                  </a:lnTo>
                  <a:moveTo>
                    <a:pt x="2000" y="11000"/>
                  </a:moveTo>
                  <a:lnTo>
                    <a:pt x="13000" y="0"/>
                  </a:lnTo>
                  <a:moveTo>
                    <a:pt x="5000" y="11000"/>
                  </a:moveTo>
                  <a:lnTo>
                    <a:pt x="16000" y="0"/>
                  </a:lnTo>
                  <a:moveTo>
                    <a:pt x="8000" y="11000"/>
                  </a:moveTo>
                  <a:lnTo>
                    <a:pt x="19000" y="0"/>
                  </a:lnTo>
                  <a:moveTo>
                    <a:pt x="11000" y="11000"/>
                  </a:moveTo>
                  <a:lnTo>
                    <a:pt x="22000" y="0"/>
                  </a:lnTo>
                  <a:moveTo>
                    <a:pt x="14000" y="11000"/>
                  </a:moveTo>
                  <a:lnTo>
                    <a:pt x="25000" y="0"/>
                  </a:lnTo>
                  <a:moveTo>
                    <a:pt x="17000" y="11000"/>
                  </a:moveTo>
                  <a:lnTo>
                    <a:pt x="28000" y="0"/>
                  </a:lnTo>
                  <a:moveTo>
                    <a:pt x="20000" y="11000"/>
                  </a:moveTo>
                  <a:lnTo>
                    <a:pt x="31000" y="0"/>
                  </a:lnTo>
                  <a:moveTo>
                    <a:pt x="23000" y="11000"/>
                  </a:moveTo>
                  <a:lnTo>
                    <a:pt x="34000" y="0"/>
                  </a:lnTo>
                  <a:moveTo>
                    <a:pt x="26000" y="11000"/>
                  </a:moveTo>
                  <a:lnTo>
                    <a:pt x="37000" y="0"/>
                  </a:lnTo>
                  <a:moveTo>
                    <a:pt x="29000" y="11000"/>
                  </a:moveTo>
                  <a:lnTo>
                    <a:pt x="40000" y="0"/>
                  </a:lnTo>
                  <a:moveTo>
                    <a:pt x="32000" y="11000"/>
                  </a:moveTo>
                  <a:lnTo>
                    <a:pt x="43000" y="0"/>
                  </a:lnTo>
                  <a:moveTo>
                    <a:pt x="35000" y="11000"/>
                  </a:moveTo>
                  <a:lnTo>
                    <a:pt x="46000" y="0"/>
                  </a:lnTo>
                  <a:moveTo>
                    <a:pt x="38000" y="11000"/>
                  </a:moveTo>
                  <a:lnTo>
                    <a:pt x="49000" y="0"/>
                  </a:lnTo>
                  <a:moveTo>
                    <a:pt x="41000" y="11000"/>
                  </a:moveTo>
                  <a:lnTo>
                    <a:pt x="52000" y="0"/>
                  </a:lnTo>
                  <a:moveTo>
                    <a:pt x="44000" y="11000"/>
                  </a:moveTo>
                  <a:lnTo>
                    <a:pt x="55000" y="0"/>
                  </a:lnTo>
                  <a:moveTo>
                    <a:pt x="47000" y="11000"/>
                  </a:moveTo>
                  <a:lnTo>
                    <a:pt x="58000" y="0"/>
                  </a:lnTo>
                  <a:moveTo>
                    <a:pt x="50000" y="11000"/>
                  </a:moveTo>
                  <a:lnTo>
                    <a:pt x="61000" y="0"/>
                  </a:lnTo>
                  <a:moveTo>
                    <a:pt x="53000" y="11000"/>
                  </a:moveTo>
                  <a:lnTo>
                    <a:pt x="64000" y="0"/>
                  </a:lnTo>
                  <a:moveTo>
                    <a:pt x="56000" y="11000"/>
                  </a:moveTo>
                  <a:lnTo>
                    <a:pt x="67000" y="0"/>
                  </a:lnTo>
                  <a:moveTo>
                    <a:pt x="59000" y="11000"/>
                  </a:moveTo>
                  <a:lnTo>
                    <a:pt x="70000" y="0"/>
                  </a:lnTo>
                  <a:moveTo>
                    <a:pt x="62000" y="11000"/>
                  </a:moveTo>
                  <a:lnTo>
                    <a:pt x="73000" y="0"/>
                  </a:lnTo>
                  <a:moveTo>
                    <a:pt x="65000" y="11000"/>
                  </a:moveTo>
                  <a:lnTo>
                    <a:pt x="76000" y="0"/>
                  </a:lnTo>
                  <a:moveTo>
                    <a:pt x="68000" y="11000"/>
                  </a:moveTo>
                  <a:lnTo>
                    <a:pt x="79000" y="0"/>
                  </a:lnTo>
                  <a:moveTo>
                    <a:pt x="71000" y="11000"/>
                  </a:moveTo>
                  <a:lnTo>
                    <a:pt x="82000" y="0"/>
                  </a:lnTo>
                  <a:moveTo>
                    <a:pt x="74000" y="11000"/>
                  </a:moveTo>
                  <a:lnTo>
                    <a:pt x="85000" y="0"/>
                  </a:lnTo>
                  <a:moveTo>
                    <a:pt x="77000" y="11000"/>
                  </a:moveTo>
                  <a:lnTo>
                    <a:pt x="86400" y="1600"/>
                  </a:lnTo>
                  <a:moveTo>
                    <a:pt x="80000" y="11000"/>
                  </a:moveTo>
                  <a:lnTo>
                    <a:pt x="86400" y="4600"/>
                  </a:lnTo>
                  <a:moveTo>
                    <a:pt x="83000" y="11000"/>
                  </a:moveTo>
                  <a:lnTo>
                    <a:pt x="86400" y="7600"/>
                  </a:lnTo>
                  <a:moveTo>
                    <a:pt x="86000" y="11000"/>
                  </a:moveTo>
                  <a:lnTo>
                    <a:pt x="86400" y="106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p:p-base 框"/>
            <p:cNvSpPr/>
            <p:nvPr/>
          </p:nvSpPr>
          <p:spPr>
            <a:xfrm>
              <a:off x="1790700" y="1733550"/>
              <a:ext cx="7132319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4" name="p:p-base 文字"/>
            <p:cNvSpPr txBox="1"/>
            <p:nvPr/>
          </p:nvSpPr>
          <p:spPr>
            <a:xfrm>
              <a:off x="-316229" y="1726977"/>
              <a:ext cx="195452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Decode GPU</a:t>
              </a:r>
            </a:p>
          </p:txBody>
        </p:sp>
        <p:sp>
          <p:nvSpPr>
            <p:cNvPr id="15" name="p:p-base 框"/>
            <p:cNvSpPr/>
            <p:nvPr/>
          </p:nvSpPr>
          <p:spPr>
            <a:xfrm>
              <a:off x="1790699" y="1790700"/>
              <a:ext cx="5760720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6" name="p:p-base 线"/>
            <p:cNvSpPr/>
            <p:nvPr/>
          </p:nvSpPr>
          <p:spPr>
            <a:xfrm>
              <a:off x="1790700" y="1790700"/>
              <a:ext cx="5760720" cy="419100"/>
            </a:xfrm>
            <a:custGeom>
              <a:avLst/>
              <a:gdLst/>
              <a:ahLst/>
              <a:cxnLst/>
              <a:rect l="0" t="0" r="r" b="b"/>
              <a:pathLst>
                <a:path w="151200" h="11000" fill="none">
                  <a:moveTo>
                    <a:pt x="0" y="2000"/>
                  </a:moveTo>
                  <a:lnTo>
                    <a:pt x="2000" y="0"/>
                  </a:lnTo>
                  <a:moveTo>
                    <a:pt x="0" y="5000"/>
                  </a:moveTo>
                  <a:lnTo>
                    <a:pt x="5000" y="0"/>
                  </a:lnTo>
                  <a:moveTo>
                    <a:pt x="0" y="8000"/>
                  </a:moveTo>
                  <a:lnTo>
                    <a:pt x="8000" y="0"/>
                  </a:lnTo>
                  <a:moveTo>
                    <a:pt x="0" y="11000"/>
                  </a:moveTo>
                  <a:lnTo>
                    <a:pt x="11000" y="0"/>
                  </a:lnTo>
                  <a:moveTo>
                    <a:pt x="3000" y="11000"/>
                  </a:moveTo>
                  <a:lnTo>
                    <a:pt x="14000" y="0"/>
                  </a:lnTo>
                  <a:moveTo>
                    <a:pt x="6000" y="11000"/>
                  </a:moveTo>
                  <a:lnTo>
                    <a:pt x="17000" y="0"/>
                  </a:lnTo>
                  <a:moveTo>
                    <a:pt x="9000" y="11000"/>
                  </a:moveTo>
                  <a:lnTo>
                    <a:pt x="20000" y="0"/>
                  </a:lnTo>
                  <a:moveTo>
                    <a:pt x="12000" y="11000"/>
                  </a:moveTo>
                  <a:lnTo>
                    <a:pt x="23000" y="0"/>
                  </a:lnTo>
                  <a:moveTo>
                    <a:pt x="15000" y="11000"/>
                  </a:moveTo>
                  <a:lnTo>
                    <a:pt x="26000" y="0"/>
                  </a:lnTo>
                  <a:moveTo>
                    <a:pt x="18000" y="11000"/>
                  </a:moveTo>
                  <a:lnTo>
                    <a:pt x="29000" y="0"/>
                  </a:lnTo>
                  <a:moveTo>
                    <a:pt x="21000" y="11000"/>
                  </a:moveTo>
                  <a:lnTo>
                    <a:pt x="32000" y="0"/>
                  </a:lnTo>
                  <a:moveTo>
                    <a:pt x="24000" y="11000"/>
                  </a:moveTo>
                  <a:lnTo>
                    <a:pt x="35000" y="0"/>
                  </a:lnTo>
                  <a:moveTo>
                    <a:pt x="27000" y="11000"/>
                  </a:moveTo>
                  <a:lnTo>
                    <a:pt x="38000" y="0"/>
                  </a:lnTo>
                  <a:moveTo>
                    <a:pt x="30000" y="11000"/>
                  </a:moveTo>
                  <a:lnTo>
                    <a:pt x="41000" y="0"/>
                  </a:lnTo>
                  <a:moveTo>
                    <a:pt x="33000" y="11000"/>
                  </a:moveTo>
                  <a:lnTo>
                    <a:pt x="44000" y="0"/>
                  </a:lnTo>
                  <a:moveTo>
                    <a:pt x="36000" y="11000"/>
                  </a:moveTo>
                  <a:lnTo>
                    <a:pt x="47000" y="0"/>
                  </a:lnTo>
                  <a:moveTo>
                    <a:pt x="39000" y="11000"/>
                  </a:moveTo>
                  <a:lnTo>
                    <a:pt x="50000" y="0"/>
                  </a:lnTo>
                  <a:moveTo>
                    <a:pt x="42000" y="11000"/>
                  </a:moveTo>
                  <a:lnTo>
                    <a:pt x="53000" y="0"/>
                  </a:lnTo>
                  <a:moveTo>
                    <a:pt x="45000" y="11000"/>
                  </a:moveTo>
                  <a:lnTo>
                    <a:pt x="56000" y="0"/>
                  </a:lnTo>
                  <a:moveTo>
                    <a:pt x="48000" y="11000"/>
                  </a:moveTo>
                  <a:lnTo>
                    <a:pt x="59000" y="0"/>
                  </a:lnTo>
                  <a:moveTo>
                    <a:pt x="51000" y="11000"/>
                  </a:moveTo>
                  <a:lnTo>
                    <a:pt x="62000" y="0"/>
                  </a:lnTo>
                  <a:moveTo>
                    <a:pt x="54000" y="11000"/>
                  </a:moveTo>
                  <a:lnTo>
                    <a:pt x="65000" y="0"/>
                  </a:lnTo>
                  <a:moveTo>
                    <a:pt x="57000" y="11000"/>
                  </a:moveTo>
                  <a:lnTo>
                    <a:pt x="68000" y="0"/>
                  </a:lnTo>
                  <a:moveTo>
                    <a:pt x="60000" y="11000"/>
                  </a:moveTo>
                  <a:lnTo>
                    <a:pt x="71000" y="0"/>
                  </a:lnTo>
                  <a:moveTo>
                    <a:pt x="63000" y="11000"/>
                  </a:moveTo>
                  <a:lnTo>
                    <a:pt x="74000" y="0"/>
                  </a:lnTo>
                  <a:moveTo>
                    <a:pt x="66000" y="11000"/>
                  </a:moveTo>
                  <a:lnTo>
                    <a:pt x="77000" y="0"/>
                  </a:lnTo>
                  <a:moveTo>
                    <a:pt x="69000" y="11000"/>
                  </a:moveTo>
                  <a:lnTo>
                    <a:pt x="80000" y="0"/>
                  </a:lnTo>
                  <a:moveTo>
                    <a:pt x="72000" y="11000"/>
                  </a:moveTo>
                  <a:lnTo>
                    <a:pt x="83000" y="0"/>
                  </a:lnTo>
                  <a:moveTo>
                    <a:pt x="75000" y="11000"/>
                  </a:moveTo>
                  <a:lnTo>
                    <a:pt x="86000" y="0"/>
                  </a:lnTo>
                  <a:moveTo>
                    <a:pt x="78000" y="11000"/>
                  </a:moveTo>
                  <a:lnTo>
                    <a:pt x="89000" y="0"/>
                  </a:lnTo>
                  <a:moveTo>
                    <a:pt x="81000" y="11000"/>
                  </a:moveTo>
                  <a:lnTo>
                    <a:pt x="92000" y="0"/>
                  </a:lnTo>
                  <a:moveTo>
                    <a:pt x="84000" y="11000"/>
                  </a:moveTo>
                  <a:lnTo>
                    <a:pt x="95000" y="0"/>
                  </a:lnTo>
                  <a:moveTo>
                    <a:pt x="87000" y="11000"/>
                  </a:moveTo>
                  <a:lnTo>
                    <a:pt x="98000" y="0"/>
                  </a:lnTo>
                  <a:moveTo>
                    <a:pt x="90000" y="11000"/>
                  </a:moveTo>
                  <a:lnTo>
                    <a:pt x="101000" y="0"/>
                  </a:lnTo>
                  <a:moveTo>
                    <a:pt x="93000" y="11000"/>
                  </a:moveTo>
                  <a:lnTo>
                    <a:pt x="104000" y="0"/>
                  </a:lnTo>
                  <a:moveTo>
                    <a:pt x="96000" y="11000"/>
                  </a:moveTo>
                  <a:lnTo>
                    <a:pt x="107000" y="0"/>
                  </a:lnTo>
                  <a:moveTo>
                    <a:pt x="99000" y="11000"/>
                  </a:moveTo>
                  <a:lnTo>
                    <a:pt x="110000" y="0"/>
                  </a:lnTo>
                  <a:moveTo>
                    <a:pt x="102000" y="11000"/>
                  </a:moveTo>
                  <a:lnTo>
                    <a:pt x="113000" y="0"/>
                  </a:lnTo>
                  <a:moveTo>
                    <a:pt x="105000" y="11000"/>
                  </a:moveTo>
                  <a:lnTo>
                    <a:pt x="116000" y="0"/>
                  </a:lnTo>
                  <a:moveTo>
                    <a:pt x="108000" y="11000"/>
                  </a:moveTo>
                  <a:lnTo>
                    <a:pt x="119000" y="0"/>
                  </a:lnTo>
                  <a:moveTo>
                    <a:pt x="111000" y="11000"/>
                  </a:moveTo>
                  <a:lnTo>
                    <a:pt x="122000" y="0"/>
                  </a:lnTo>
                  <a:moveTo>
                    <a:pt x="114000" y="11000"/>
                  </a:moveTo>
                  <a:lnTo>
                    <a:pt x="125000" y="0"/>
                  </a:lnTo>
                  <a:moveTo>
                    <a:pt x="117000" y="11000"/>
                  </a:moveTo>
                  <a:lnTo>
                    <a:pt x="128000" y="0"/>
                  </a:lnTo>
                  <a:moveTo>
                    <a:pt x="120000" y="11000"/>
                  </a:moveTo>
                  <a:lnTo>
                    <a:pt x="131000" y="0"/>
                  </a:lnTo>
                  <a:moveTo>
                    <a:pt x="123000" y="11000"/>
                  </a:moveTo>
                  <a:lnTo>
                    <a:pt x="134000" y="0"/>
                  </a:lnTo>
                  <a:moveTo>
                    <a:pt x="126000" y="11000"/>
                  </a:moveTo>
                  <a:lnTo>
                    <a:pt x="137000" y="0"/>
                  </a:lnTo>
                  <a:moveTo>
                    <a:pt x="129000" y="11000"/>
                  </a:moveTo>
                  <a:lnTo>
                    <a:pt x="140000" y="0"/>
                  </a:lnTo>
                  <a:moveTo>
                    <a:pt x="132000" y="11000"/>
                  </a:moveTo>
                  <a:lnTo>
                    <a:pt x="143000" y="0"/>
                  </a:lnTo>
                  <a:moveTo>
                    <a:pt x="135000" y="11000"/>
                  </a:moveTo>
                  <a:lnTo>
                    <a:pt x="146000" y="0"/>
                  </a:lnTo>
                  <a:moveTo>
                    <a:pt x="138000" y="11000"/>
                  </a:moveTo>
                  <a:lnTo>
                    <a:pt x="149000" y="0"/>
                  </a:lnTo>
                  <a:moveTo>
                    <a:pt x="141000" y="11000"/>
                  </a:moveTo>
                  <a:lnTo>
                    <a:pt x="151200" y="800"/>
                  </a:lnTo>
                  <a:moveTo>
                    <a:pt x="144000" y="11000"/>
                  </a:moveTo>
                  <a:lnTo>
                    <a:pt x="151200" y="3800"/>
                  </a:lnTo>
                  <a:moveTo>
                    <a:pt x="147000" y="11000"/>
                  </a:moveTo>
                  <a:lnTo>
                    <a:pt x="151200" y="6800"/>
                  </a:lnTo>
                  <a:moveTo>
                    <a:pt x="150000" y="11000"/>
                  </a:moveTo>
                  <a:lnTo>
                    <a:pt x="151200" y="98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:p-base 框"/>
            <p:cNvSpPr/>
            <p:nvPr/>
          </p:nvSpPr>
          <p:spPr>
            <a:xfrm>
              <a:off x="1790699" y="571500"/>
              <a:ext cx="822960" cy="4191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8" name="p:p-base 文字"/>
            <p:cNvSpPr txBox="1"/>
            <p:nvPr/>
          </p:nvSpPr>
          <p:spPr>
            <a:xfrm>
              <a:off x="1885950" y="5077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1</a:t>
              </a:r>
            </a:p>
          </p:txBody>
        </p:sp>
        <p:sp>
          <p:nvSpPr>
            <p:cNvPr id="19" name="p:p-base 框"/>
            <p:cNvSpPr/>
            <p:nvPr/>
          </p:nvSpPr>
          <p:spPr>
            <a:xfrm>
              <a:off x="2613660" y="571500"/>
              <a:ext cx="822960" cy="4191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0" name="p:p-base 文字"/>
            <p:cNvSpPr txBox="1"/>
            <p:nvPr/>
          </p:nvSpPr>
          <p:spPr>
            <a:xfrm>
              <a:off x="2708910" y="5077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2</a:t>
              </a:r>
            </a:p>
          </p:txBody>
        </p:sp>
        <p:sp>
          <p:nvSpPr>
            <p:cNvPr id="21" name="p:p-base 框"/>
            <p:cNvSpPr/>
            <p:nvPr/>
          </p:nvSpPr>
          <p:spPr>
            <a:xfrm>
              <a:off x="3436620" y="571500"/>
              <a:ext cx="822960" cy="4191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2" name="p:p-base 文字"/>
            <p:cNvSpPr txBox="1"/>
            <p:nvPr/>
          </p:nvSpPr>
          <p:spPr>
            <a:xfrm>
              <a:off x="3531870" y="5077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3</a:t>
              </a:r>
            </a:p>
          </p:txBody>
        </p:sp>
        <p:sp>
          <p:nvSpPr>
            <p:cNvPr id="23" name="p:p-base 框"/>
            <p:cNvSpPr/>
            <p:nvPr/>
          </p:nvSpPr>
          <p:spPr>
            <a:xfrm>
              <a:off x="4259580" y="571500"/>
              <a:ext cx="822960" cy="4191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4" name="p:p-base 文字"/>
            <p:cNvSpPr txBox="1"/>
            <p:nvPr/>
          </p:nvSpPr>
          <p:spPr>
            <a:xfrm>
              <a:off x="4354830" y="5077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4</a:t>
              </a:r>
            </a:p>
          </p:txBody>
        </p:sp>
        <p:sp>
          <p:nvSpPr>
            <p:cNvPr id="25" name="p:p-base 框"/>
            <p:cNvSpPr/>
            <p:nvPr/>
          </p:nvSpPr>
          <p:spPr>
            <a:xfrm>
              <a:off x="5082540" y="1257300"/>
              <a:ext cx="617219" cy="419100"/>
            </a:xfrm>
            <a:prstGeom prst="rect">
              <a:avLst/>
            </a:prstGeom>
            <a:solidFill>
              <a:srgbClr val="FBE5D6"/>
            </a:solidFill>
            <a:ln w="3810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6" name="p:p-base 文字"/>
            <p:cNvSpPr txBox="1"/>
            <p:nvPr/>
          </p:nvSpPr>
          <p:spPr>
            <a:xfrm>
              <a:off x="5074920" y="11935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1</a:t>
              </a:r>
            </a:p>
          </p:txBody>
        </p:sp>
        <p:sp>
          <p:nvSpPr>
            <p:cNvPr id="27" name="p:p-base 框"/>
            <p:cNvSpPr/>
            <p:nvPr/>
          </p:nvSpPr>
          <p:spPr>
            <a:xfrm>
              <a:off x="5699759" y="1257300"/>
              <a:ext cx="617219" cy="419100"/>
            </a:xfrm>
            <a:prstGeom prst="rect">
              <a:avLst/>
            </a:prstGeom>
            <a:solidFill>
              <a:srgbClr val="FBE5D6"/>
            </a:solidFill>
            <a:ln w="3810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8" name="p:p-base 文字"/>
            <p:cNvSpPr txBox="1"/>
            <p:nvPr/>
          </p:nvSpPr>
          <p:spPr>
            <a:xfrm>
              <a:off x="5692139" y="11935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2</a:t>
              </a:r>
            </a:p>
          </p:txBody>
        </p:sp>
        <p:sp>
          <p:nvSpPr>
            <p:cNvPr id="29" name="p:p-base 框"/>
            <p:cNvSpPr/>
            <p:nvPr/>
          </p:nvSpPr>
          <p:spPr>
            <a:xfrm>
              <a:off x="6316980" y="1257300"/>
              <a:ext cx="617219" cy="419100"/>
            </a:xfrm>
            <a:prstGeom prst="rect">
              <a:avLst/>
            </a:prstGeom>
            <a:solidFill>
              <a:srgbClr val="FBE5D6"/>
            </a:solidFill>
            <a:ln w="3810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0" name="p:p-base 文字"/>
            <p:cNvSpPr txBox="1"/>
            <p:nvPr/>
          </p:nvSpPr>
          <p:spPr>
            <a:xfrm>
              <a:off x="6309359" y="11935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3</a:t>
              </a:r>
            </a:p>
          </p:txBody>
        </p:sp>
        <p:sp>
          <p:nvSpPr>
            <p:cNvPr id="31" name="p:p-base 框"/>
            <p:cNvSpPr/>
            <p:nvPr/>
          </p:nvSpPr>
          <p:spPr>
            <a:xfrm>
              <a:off x="6934200" y="1257300"/>
              <a:ext cx="617219" cy="419100"/>
            </a:xfrm>
            <a:prstGeom prst="rect">
              <a:avLst/>
            </a:prstGeom>
            <a:solidFill>
              <a:srgbClr val="FBE5D6"/>
            </a:solidFill>
            <a:ln w="3810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2" name="p:p-base 文字"/>
            <p:cNvSpPr txBox="1"/>
            <p:nvPr/>
          </p:nvSpPr>
          <p:spPr>
            <a:xfrm>
              <a:off x="6926580" y="11935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4</a:t>
              </a:r>
            </a:p>
          </p:txBody>
        </p:sp>
        <p:sp>
          <p:nvSpPr>
            <p:cNvPr id="33" name="p:p-base 框"/>
            <p:cNvSpPr/>
            <p:nvPr/>
          </p:nvSpPr>
          <p:spPr>
            <a:xfrm>
              <a:off x="7551419" y="1790700"/>
              <a:ext cx="1028700" cy="419100"/>
            </a:xfrm>
            <a:prstGeom prst="rect">
              <a:avLst/>
            </a:prstGeom>
            <a:solidFill>
              <a:srgbClr val="E2F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4" name="p:p-base 框"/>
            <p:cNvSpPr/>
            <p:nvPr/>
          </p:nvSpPr>
          <p:spPr>
            <a:xfrm>
              <a:off x="8618219" y="1790700"/>
              <a:ext cx="91439" cy="419100"/>
            </a:xfrm>
            <a:prstGeom prst="rect">
              <a:avLst/>
            </a:prstGeom>
            <a:solidFill>
              <a:srgbClr val="EAF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5" name="p:p-base 线"/>
            <p:cNvSpPr/>
            <p:nvPr/>
          </p:nvSpPr>
          <p:spPr>
            <a:xfrm>
              <a:off x="8618219" y="1790700"/>
              <a:ext cx="91440" cy="419100"/>
            </a:xfrm>
            <a:custGeom>
              <a:avLst/>
              <a:gdLst/>
              <a:ahLst/>
              <a:cxnLst/>
              <a:rect l="0" t="0" r="r" b="b"/>
              <a:pathLst>
                <a:path w="2400" h="11000" fill="none">
                  <a:moveTo>
                    <a:pt x="0" y="0"/>
                  </a:moveTo>
                  <a:lnTo>
                    <a:pt x="2400" y="0"/>
                  </a:lnTo>
                  <a:moveTo>
                    <a:pt x="0" y="11000"/>
                  </a:moveTo>
                  <a:lnTo>
                    <a:pt x="2400" y="11000"/>
                  </a:lnTo>
                </a:path>
              </a:pathLst>
            </a:custGeom>
            <a:noFill/>
            <a:ln w="22859" cap="flat">
              <a:solidFill>
                <a:srgbClr val="A2C68D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p:p-base 框"/>
            <p:cNvSpPr/>
            <p:nvPr/>
          </p:nvSpPr>
          <p:spPr>
            <a:xfrm>
              <a:off x="8747760" y="1790700"/>
              <a:ext cx="76200" cy="419100"/>
            </a:xfrm>
            <a:prstGeom prst="rect">
              <a:avLst/>
            </a:prstGeom>
            <a:solidFill>
              <a:srgbClr val="F1F8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7" name="p:p-base 线"/>
            <p:cNvSpPr/>
            <p:nvPr/>
          </p:nvSpPr>
          <p:spPr>
            <a:xfrm>
              <a:off x="8747760" y="1790700"/>
              <a:ext cx="76200" cy="419100"/>
            </a:xfrm>
            <a:custGeom>
              <a:avLst/>
              <a:gdLst/>
              <a:ahLst/>
              <a:cxnLst/>
              <a:rect l="0" t="0" r="r" b="b"/>
              <a:pathLst>
                <a:path w="2000" h="11000" fill="none">
                  <a:moveTo>
                    <a:pt x="0" y="0"/>
                  </a:moveTo>
                  <a:lnTo>
                    <a:pt x="2000" y="0"/>
                  </a:lnTo>
                  <a:moveTo>
                    <a:pt x="0" y="11000"/>
                  </a:moveTo>
                  <a:lnTo>
                    <a:pt x="2000" y="11000"/>
                  </a:lnTo>
                </a:path>
              </a:pathLst>
            </a:custGeom>
            <a:noFill/>
            <a:ln w="22859" cap="flat">
              <a:solidFill>
                <a:srgbClr val="C1D9B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:p-base 框"/>
            <p:cNvSpPr/>
            <p:nvPr/>
          </p:nvSpPr>
          <p:spPr>
            <a:xfrm>
              <a:off x="8862060" y="1790700"/>
              <a:ext cx="60960" cy="419100"/>
            </a:xfrm>
            <a:prstGeom prst="rect">
              <a:avLst/>
            </a:prstGeom>
            <a:solidFill>
              <a:srgbClr val="F8FB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9" name="p:p-base 线"/>
            <p:cNvSpPr/>
            <p:nvPr/>
          </p:nvSpPr>
          <p:spPr>
            <a:xfrm>
              <a:off x="8862060" y="1790700"/>
              <a:ext cx="60959" cy="419100"/>
            </a:xfrm>
            <a:custGeom>
              <a:avLst/>
              <a:gdLst/>
              <a:ahLst/>
              <a:cxnLst/>
              <a:rect l="0" t="0" r="r" b="b"/>
              <a:pathLst>
                <a:path w="1599" h="11000" fill="none">
                  <a:moveTo>
                    <a:pt x="0" y="0"/>
                  </a:moveTo>
                  <a:lnTo>
                    <a:pt x="1600" y="0"/>
                  </a:lnTo>
                  <a:moveTo>
                    <a:pt x="0" y="11000"/>
                  </a:moveTo>
                  <a:lnTo>
                    <a:pt x="1600" y="11000"/>
                  </a:lnTo>
                </a:path>
              </a:pathLst>
            </a:custGeom>
            <a:noFill/>
            <a:ln w="22859" cap="flat">
              <a:solidFill>
                <a:srgbClr val="E0ECD9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p:p-base 线"/>
            <p:cNvSpPr/>
            <p:nvPr/>
          </p:nvSpPr>
          <p:spPr>
            <a:xfrm>
              <a:off x="7551419" y="1790700"/>
              <a:ext cx="1028700" cy="419100"/>
            </a:xfrm>
            <a:custGeom>
              <a:avLst/>
              <a:gdLst/>
              <a:ahLst/>
              <a:cxnLst/>
              <a:rect l="0" t="0" r="r" b="b"/>
              <a:pathLst>
                <a:path w="27000" h="11000" fill="none">
                  <a:moveTo>
                    <a:pt x="27000" y="0"/>
                  </a:moveTo>
                  <a:lnTo>
                    <a:pt x="0" y="0"/>
                  </a:lnTo>
                  <a:lnTo>
                    <a:pt x="0" y="11000"/>
                  </a:lnTo>
                  <a:lnTo>
                    <a:pt x="27000" y="11000"/>
                  </a:lnTo>
                </a:path>
              </a:pathLst>
            </a:custGeom>
            <a:noFill/>
            <a:ln w="22859" cap="flat">
              <a:solidFill>
                <a:srgbClr val="82B36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p:p-base 文字"/>
            <p:cNvSpPr txBox="1"/>
            <p:nvPr/>
          </p:nvSpPr>
          <p:spPr>
            <a:xfrm>
              <a:off x="7646669" y="1726977"/>
              <a:ext cx="130683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decode</a:t>
              </a:r>
            </a:p>
          </p:txBody>
        </p:sp>
        <p:cxnSp>
          <p:nvCxnSpPr>
            <p:cNvPr id="42" name="p:p-base 线"/>
            <p:cNvCxnSpPr/>
            <p:nvPr/>
          </p:nvCxnSpPr>
          <p:spPr>
            <a:xfrm>
              <a:off x="4949190" y="990600"/>
              <a:ext cx="228600" cy="266700"/>
            </a:xfrm>
            <a:prstGeom prst="line">
              <a:avLst/>
            </a:prstGeom>
            <a:ln w="22859" cap="flat">
              <a:solidFill>
                <a:srgbClr val="ED7D31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p:p-base 线"/>
            <p:cNvCxnSpPr/>
            <p:nvPr/>
          </p:nvCxnSpPr>
          <p:spPr>
            <a:xfrm>
              <a:off x="7551419" y="495300"/>
              <a:ext cx="0" cy="1847850"/>
            </a:xfrm>
            <a:prstGeom prst="line">
              <a:avLst/>
            </a:prstGeom>
            <a:ln w="22859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p:p-base 文字"/>
            <p:cNvSpPr txBox="1"/>
            <p:nvPr/>
          </p:nvSpPr>
          <p:spPr>
            <a:xfrm>
              <a:off x="6558914" y="37242"/>
              <a:ext cx="198501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decode starts</a:t>
              </a:r>
            </a:p>
          </p:txBody>
        </p:sp>
      </p:grpSp>
      <p:grpSp>
        <p:nvGrpSpPr>
          <p:cNvPr id="125" name="p:p-tide"/>
          <p:cNvGrpSpPr/>
          <p:nvPr/>
        </p:nvGrpSpPr>
        <p:grpSpPr>
          <a:xfrm>
            <a:off x="-316229" y="2314384"/>
            <a:ext cx="9239249" cy="2371916"/>
            <a:chOff x="-316229" y="2314384"/>
            <a:chExt cx="9239249" cy="2371916"/>
          </a:xfrm>
        </p:grpSpPr>
        <p:sp>
          <p:nvSpPr>
            <p:cNvPr id="45" name="p:p-tide 文字"/>
            <p:cNvSpPr txBox="1"/>
            <p:nvPr/>
          </p:nvSpPr>
          <p:spPr>
            <a:xfrm>
              <a:off x="152399" y="2314384"/>
              <a:ext cx="484632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100" b="1" i="0">
                  <a:solidFill>
                    <a:srgbClr val="0D0D0D"/>
                  </a:solidFill>
                  <a:latin typeface="Helvetica Neue"/>
                  <a:ea typeface="Source Han Sans CN"/>
                </a:rPr>
                <a:t>(b) Tidepool: layer-wise streaming</a:t>
              </a:r>
            </a:p>
          </p:txBody>
        </p:sp>
        <p:sp>
          <p:nvSpPr>
            <p:cNvPr id="46" name="p:p-tide 框"/>
            <p:cNvSpPr/>
            <p:nvPr/>
          </p:nvSpPr>
          <p:spPr>
            <a:xfrm>
              <a:off x="1790700" y="2838450"/>
              <a:ext cx="7132319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7" name="p:p-tide 文字"/>
            <p:cNvSpPr txBox="1"/>
            <p:nvPr/>
          </p:nvSpPr>
          <p:spPr>
            <a:xfrm>
              <a:off x="-76200" y="2831877"/>
              <a:ext cx="171450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Prefill GPU</a:t>
              </a:r>
            </a:p>
          </p:txBody>
        </p:sp>
        <p:sp>
          <p:nvSpPr>
            <p:cNvPr id="48" name="p:p-tide 框"/>
            <p:cNvSpPr/>
            <p:nvPr/>
          </p:nvSpPr>
          <p:spPr>
            <a:xfrm>
              <a:off x="5082540" y="2895600"/>
              <a:ext cx="617219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9" name="p:p-tide 线"/>
            <p:cNvSpPr/>
            <p:nvPr/>
          </p:nvSpPr>
          <p:spPr>
            <a:xfrm>
              <a:off x="5082540" y="2895600"/>
              <a:ext cx="617219" cy="419100"/>
            </a:xfrm>
            <a:custGeom>
              <a:avLst/>
              <a:gdLst/>
              <a:ahLst/>
              <a:cxnLst/>
              <a:rect l="0" t="0" r="r" b="b"/>
              <a:pathLst>
                <a:path w="16199" h="11000" fill="none">
                  <a:moveTo>
                    <a:pt x="0" y="600"/>
                  </a:moveTo>
                  <a:lnTo>
                    <a:pt x="600" y="0"/>
                  </a:lnTo>
                  <a:moveTo>
                    <a:pt x="0" y="3600"/>
                  </a:moveTo>
                  <a:lnTo>
                    <a:pt x="3600" y="0"/>
                  </a:lnTo>
                  <a:moveTo>
                    <a:pt x="0" y="6600"/>
                  </a:moveTo>
                  <a:lnTo>
                    <a:pt x="6600" y="0"/>
                  </a:lnTo>
                  <a:moveTo>
                    <a:pt x="0" y="9600"/>
                  </a:moveTo>
                  <a:lnTo>
                    <a:pt x="9600" y="0"/>
                  </a:lnTo>
                  <a:moveTo>
                    <a:pt x="1600" y="11000"/>
                  </a:moveTo>
                  <a:lnTo>
                    <a:pt x="12600" y="0"/>
                  </a:lnTo>
                  <a:moveTo>
                    <a:pt x="4600" y="11000"/>
                  </a:moveTo>
                  <a:lnTo>
                    <a:pt x="15600" y="0"/>
                  </a:lnTo>
                  <a:moveTo>
                    <a:pt x="7600" y="11000"/>
                  </a:moveTo>
                  <a:lnTo>
                    <a:pt x="16200" y="2400"/>
                  </a:lnTo>
                  <a:moveTo>
                    <a:pt x="10600" y="11000"/>
                  </a:moveTo>
                  <a:lnTo>
                    <a:pt x="16200" y="5400"/>
                  </a:lnTo>
                  <a:moveTo>
                    <a:pt x="13600" y="11000"/>
                  </a:moveTo>
                  <a:lnTo>
                    <a:pt x="16200" y="84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p:p-tide 框"/>
            <p:cNvSpPr/>
            <p:nvPr/>
          </p:nvSpPr>
          <p:spPr>
            <a:xfrm>
              <a:off x="1790700" y="3524250"/>
              <a:ext cx="7132319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1" name="p:p-tide 文字"/>
            <p:cNvSpPr txBox="1"/>
            <p:nvPr/>
          </p:nvSpPr>
          <p:spPr>
            <a:xfrm>
              <a:off x="-95250" y="3382422"/>
              <a:ext cx="17335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KV transfer</a:t>
              </a:r>
            </a:p>
          </p:txBody>
        </p:sp>
        <p:sp>
          <p:nvSpPr>
            <p:cNvPr id="52" name="p:p-tide 文字"/>
            <p:cNvSpPr txBox="1"/>
            <p:nvPr/>
          </p:nvSpPr>
          <p:spPr>
            <a:xfrm>
              <a:off x="247650" y="3649122"/>
              <a:ext cx="13906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(RDMA)</a:t>
              </a:r>
            </a:p>
          </p:txBody>
        </p:sp>
        <p:sp>
          <p:nvSpPr>
            <p:cNvPr id="53" name="p:p-tide 框"/>
            <p:cNvSpPr/>
            <p:nvPr/>
          </p:nvSpPr>
          <p:spPr>
            <a:xfrm>
              <a:off x="1790699" y="3581400"/>
              <a:ext cx="822960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4" name="p:p-tide 线"/>
            <p:cNvSpPr/>
            <p:nvPr/>
          </p:nvSpPr>
          <p:spPr>
            <a:xfrm>
              <a:off x="1790700" y="3581400"/>
              <a:ext cx="822959" cy="419100"/>
            </a:xfrm>
            <a:custGeom>
              <a:avLst/>
              <a:gdLst/>
              <a:ahLst/>
              <a:cxnLst/>
              <a:rect l="0" t="0" r="r" b="b"/>
              <a:pathLst>
                <a:path w="21599" h="11000" fill="none">
                  <a:moveTo>
                    <a:pt x="0" y="3000"/>
                  </a:moveTo>
                  <a:lnTo>
                    <a:pt x="3000" y="0"/>
                  </a:lnTo>
                  <a:moveTo>
                    <a:pt x="0" y="6000"/>
                  </a:moveTo>
                  <a:lnTo>
                    <a:pt x="6000" y="0"/>
                  </a:lnTo>
                  <a:moveTo>
                    <a:pt x="0" y="9000"/>
                  </a:moveTo>
                  <a:lnTo>
                    <a:pt x="9000" y="0"/>
                  </a:lnTo>
                  <a:moveTo>
                    <a:pt x="1000" y="11000"/>
                  </a:moveTo>
                  <a:lnTo>
                    <a:pt x="12000" y="0"/>
                  </a:lnTo>
                  <a:moveTo>
                    <a:pt x="4000" y="11000"/>
                  </a:moveTo>
                  <a:lnTo>
                    <a:pt x="15000" y="0"/>
                  </a:lnTo>
                  <a:moveTo>
                    <a:pt x="7000" y="11000"/>
                  </a:moveTo>
                  <a:lnTo>
                    <a:pt x="18000" y="0"/>
                  </a:lnTo>
                  <a:moveTo>
                    <a:pt x="10000" y="11000"/>
                  </a:moveTo>
                  <a:lnTo>
                    <a:pt x="21000" y="0"/>
                  </a:lnTo>
                  <a:moveTo>
                    <a:pt x="13000" y="11000"/>
                  </a:moveTo>
                  <a:lnTo>
                    <a:pt x="21600" y="2400"/>
                  </a:lnTo>
                  <a:moveTo>
                    <a:pt x="16000" y="11000"/>
                  </a:moveTo>
                  <a:lnTo>
                    <a:pt x="21600" y="5400"/>
                  </a:lnTo>
                  <a:moveTo>
                    <a:pt x="19000" y="11000"/>
                  </a:moveTo>
                  <a:lnTo>
                    <a:pt x="21600" y="84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p:p-tide 框"/>
            <p:cNvSpPr/>
            <p:nvPr/>
          </p:nvSpPr>
          <p:spPr>
            <a:xfrm>
              <a:off x="3230880" y="3581400"/>
              <a:ext cx="205740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6" name="p:p-tide 线"/>
            <p:cNvSpPr/>
            <p:nvPr/>
          </p:nvSpPr>
          <p:spPr>
            <a:xfrm>
              <a:off x="3230879" y="3581400"/>
              <a:ext cx="205740" cy="419100"/>
            </a:xfrm>
            <a:custGeom>
              <a:avLst/>
              <a:gdLst/>
              <a:ahLst/>
              <a:cxnLst/>
              <a:rect l="0" t="0" r="r" b="b"/>
              <a:pathLst>
                <a:path w="5400" h="11000" fill="none">
                  <a:moveTo>
                    <a:pt x="0" y="1200"/>
                  </a:moveTo>
                  <a:lnTo>
                    <a:pt x="1200" y="0"/>
                  </a:lnTo>
                  <a:moveTo>
                    <a:pt x="0" y="4200"/>
                  </a:moveTo>
                  <a:lnTo>
                    <a:pt x="4200" y="0"/>
                  </a:lnTo>
                  <a:moveTo>
                    <a:pt x="0" y="7200"/>
                  </a:moveTo>
                  <a:lnTo>
                    <a:pt x="5400" y="1800"/>
                  </a:lnTo>
                  <a:moveTo>
                    <a:pt x="0" y="10200"/>
                  </a:moveTo>
                  <a:lnTo>
                    <a:pt x="5400" y="4800"/>
                  </a:lnTo>
                  <a:moveTo>
                    <a:pt x="2200" y="11000"/>
                  </a:moveTo>
                  <a:lnTo>
                    <a:pt x="5400" y="78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p:p-tide 框"/>
            <p:cNvSpPr/>
            <p:nvPr/>
          </p:nvSpPr>
          <p:spPr>
            <a:xfrm>
              <a:off x="4053840" y="3581400"/>
              <a:ext cx="205740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8" name="p:p-tide 线"/>
            <p:cNvSpPr/>
            <p:nvPr/>
          </p:nvSpPr>
          <p:spPr>
            <a:xfrm>
              <a:off x="4053840" y="3581400"/>
              <a:ext cx="205739" cy="419100"/>
            </a:xfrm>
            <a:custGeom>
              <a:avLst/>
              <a:gdLst/>
              <a:ahLst/>
              <a:cxnLst/>
              <a:rect l="0" t="0" r="r" b="b"/>
              <a:pathLst>
                <a:path w="5399" h="11000" fill="none">
                  <a:moveTo>
                    <a:pt x="0" y="600"/>
                  </a:moveTo>
                  <a:lnTo>
                    <a:pt x="600" y="0"/>
                  </a:lnTo>
                  <a:moveTo>
                    <a:pt x="0" y="3600"/>
                  </a:moveTo>
                  <a:lnTo>
                    <a:pt x="3600" y="0"/>
                  </a:lnTo>
                  <a:moveTo>
                    <a:pt x="0" y="6600"/>
                  </a:moveTo>
                  <a:lnTo>
                    <a:pt x="5400" y="1200"/>
                  </a:lnTo>
                  <a:moveTo>
                    <a:pt x="0" y="9600"/>
                  </a:moveTo>
                  <a:lnTo>
                    <a:pt x="5400" y="4200"/>
                  </a:lnTo>
                  <a:moveTo>
                    <a:pt x="1600" y="11000"/>
                  </a:moveTo>
                  <a:lnTo>
                    <a:pt x="5400" y="7200"/>
                  </a:lnTo>
                  <a:moveTo>
                    <a:pt x="4600" y="11000"/>
                  </a:moveTo>
                  <a:lnTo>
                    <a:pt x="5400" y="102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p:p-tide 框"/>
            <p:cNvSpPr/>
            <p:nvPr/>
          </p:nvSpPr>
          <p:spPr>
            <a:xfrm>
              <a:off x="4876799" y="3581400"/>
              <a:ext cx="205740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0" name="p:p-tide 线"/>
            <p:cNvSpPr/>
            <p:nvPr/>
          </p:nvSpPr>
          <p:spPr>
            <a:xfrm>
              <a:off x="4876800" y="3581400"/>
              <a:ext cx="205740" cy="419100"/>
            </a:xfrm>
            <a:custGeom>
              <a:avLst/>
              <a:gdLst/>
              <a:ahLst/>
              <a:cxnLst/>
              <a:rect l="0" t="0" r="r" b="b"/>
              <a:pathLst>
                <a:path w="5400" h="11000" fill="none">
                  <a:moveTo>
                    <a:pt x="0" y="3000"/>
                  </a:moveTo>
                  <a:lnTo>
                    <a:pt x="3000" y="0"/>
                  </a:lnTo>
                  <a:moveTo>
                    <a:pt x="0" y="6000"/>
                  </a:moveTo>
                  <a:lnTo>
                    <a:pt x="5400" y="600"/>
                  </a:lnTo>
                  <a:moveTo>
                    <a:pt x="0" y="9000"/>
                  </a:moveTo>
                  <a:lnTo>
                    <a:pt x="5400" y="3600"/>
                  </a:lnTo>
                  <a:moveTo>
                    <a:pt x="1000" y="11000"/>
                  </a:moveTo>
                  <a:lnTo>
                    <a:pt x="5400" y="6600"/>
                  </a:lnTo>
                  <a:moveTo>
                    <a:pt x="4000" y="11000"/>
                  </a:moveTo>
                  <a:lnTo>
                    <a:pt x="5400" y="96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p:p-tide 框"/>
            <p:cNvSpPr/>
            <p:nvPr/>
          </p:nvSpPr>
          <p:spPr>
            <a:xfrm>
              <a:off x="1790700" y="4057650"/>
              <a:ext cx="7132319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2" name="p:p-tide 文字"/>
            <p:cNvSpPr txBox="1"/>
            <p:nvPr/>
          </p:nvSpPr>
          <p:spPr>
            <a:xfrm>
              <a:off x="-316229" y="4051077"/>
              <a:ext cx="195452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Decode GPU</a:t>
              </a:r>
            </a:p>
          </p:txBody>
        </p:sp>
        <p:sp>
          <p:nvSpPr>
            <p:cNvPr id="63" name="p:p-tide 框"/>
            <p:cNvSpPr/>
            <p:nvPr/>
          </p:nvSpPr>
          <p:spPr>
            <a:xfrm>
              <a:off x="1790700" y="4114800"/>
              <a:ext cx="3909059" cy="4191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4" name="p:p-tide 线"/>
            <p:cNvSpPr/>
            <p:nvPr/>
          </p:nvSpPr>
          <p:spPr>
            <a:xfrm>
              <a:off x="1790700" y="4114800"/>
              <a:ext cx="3909059" cy="419100"/>
            </a:xfrm>
            <a:custGeom>
              <a:avLst/>
              <a:gdLst/>
              <a:ahLst/>
              <a:cxnLst/>
              <a:rect l="0" t="0" r="r" b="b"/>
              <a:pathLst>
                <a:path w="102600" h="11000" fill="none">
                  <a:moveTo>
                    <a:pt x="0" y="1000"/>
                  </a:moveTo>
                  <a:lnTo>
                    <a:pt x="1000" y="0"/>
                  </a:lnTo>
                  <a:moveTo>
                    <a:pt x="0" y="4000"/>
                  </a:moveTo>
                  <a:lnTo>
                    <a:pt x="4000" y="0"/>
                  </a:lnTo>
                  <a:moveTo>
                    <a:pt x="0" y="7000"/>
                  </a:moveTo>
                  <a:lnTo>
                    <a:pt x="7000" y="0"/>
                  </a:lnTo>
                  <a:moveTo>
                    <a:pt x="0" y="10000"/>
                  </a:moveTo>
                  <a:lnTo>
                    <a:pt x="10000" y="0"/>
                  </a:lnTo>
                  <a:moveTo>
                    <a:pt x="2000" y="11000"/>
                  </a:moveTo>
                  <a:lnTo>
                    <a:pt x="13000" y="0"/>
                  </a:lnTo>
                  <a:moveTo>
                    <a:pt x="5000" y="11000"/>
                  </a:moveTo>
                  <a:lnTo>
                    <a:pt x="16000" y="0"/>
                  </a:lnTo>
                  <a:moveTo>
                    <a:pt x="8000" y="11000"/>
                  </a:moveTo>
                  <a:lnTo>
                    <a:pt x="19000" y="0"/>
                  </a:lnTo>
                  <a:moveTo>
                    <a:pt x="11000" y="11000"/>
                  </a:moveTo>
                  <a:lnTo>
                    <a:pt x="22000" y="0"/>
                  </a:lnTo>
                  <a:moveTo>
                    <a:pt x="14000" y="11000"/>
                  </a:moveTo>
                  <a:lnTo>
                    <a:pt x="25000" y="0"/>
                  </a:lnTo>
                  <a:moveTo>
                    <a:pt x="17000" y="11000"/>
                  </a:moveTo>
                  <a:lnTo>
                    <a:pt x="28000" y="0"/>
                  </a:lnTo>
                  <a:moveTo>
                    <a:pt x="20000" y="11000"/>
                  </a:moveTo>
                  <a:lnTo>
                    <a:pt x="31000" y="0"/>
                  </a:lnTo>
                  <a:moveTo>
                    <a:pt x="23000" y="11000"/>
                  </a:moveTo>
                  <a:lnTo>
                    <a:pt x="34000" y="0"/>
                  </a:lnTo>
                  <a:moveTo>
                    <a:pt x="26000" y="11000"/>
                  </a:moveTo>
                  <a:lnTo>
                    <a:pt x="37000" y="0"/>
                  </a:lnTo>
                  <a:moveTo>
                    <a:pt x="29000" y="11000"/>
                  </a:moveTo>
                  <a:lnTo>
                    <a:pt x="40000" y="0"/>
                  </a:lnTo>
                  <a:moveTo>
                    <a:pt x="32000" y="11000"/>
                  </a:moveTo>
                  <a:lnTo>
                    <a:pt x="43000" y="0"/>
                  </a:lnTo>
                  <a:moveTo>
                    <a:pt x="35000" y="11000"/>
                  </a:moveTo>
                  <a:lnTo>
                    <a:pt x="46000" y="0"/>
                  </a:lnTo>
                  <a:moveTo>
                    <a:pt x="38000" y="11000"/>
                  </a:moveTo>
                  <a:lnTo>
                    <a:pt x="49000" y="0"/>
                  </a:lnTo>
                  <a:moveTo>
                    <a:pt x="41000" y="11000"/>
                  </a:moveTo>
                  <a:lnTo>
                    <a:pt x="52000" y="0"/>
                  </a:lnTo>
                  <a:moveTo>
                    <a:pt x="44000" y="11000"/>
                  </a:moveTo>
                  <a:lnTo>
                    <a:pt x="55000" y="0"/>
                  </a:lnTo>
                  <a:moveTo>
                    <a:pt x="47000" y="11000"/>
                  </a:moveTo>
                  <a:lnTo>
                    <a:pt x="58000" y="0"/>
                  </a:lnTo>
                  <a:moveTo>
                    <a:pt x="50000" y="11000"/>
                  </a:moveTo>
                  <a:lnTo>
                    <a:pt x="61000" y="0"/>
                  </a:lnTo>
                  <a:moveTo>
                    <a:pt x="53000" y="11000"/>
                  </a:moveTo>
                  <a:lnTo>
                    <a:pt x="64000" y="0"/>
                  </a:lnTo>
                  <a:moveTo>
                    <a:pt x="56000" y="11000"/>
                  </a:moveTo>
                  <a:lnTo>
                    <a:pt x="67000" y="0"/>
                  </a:lnTo>
                  <a:moveTo>
                    <a:pt x="59000" y="11000"/>
                  </a:moveTo>
                  <a:lnTo>
                    <a:pt x="70000" y="0"/>
                  </a:lnTo>
                  <a:moveTo>
                    <a:pt x="62000" y="11000"/>
                  </a:moveTo>
                  <a:lnTo>
                    <a:pt x="73000" y="0"/>
                  </a:lnTo>
                  <a:moveTo>
                    <a:pt x="65000" y="11000"/>
                  </a:moveTo>
                  <a:lnTo>
                    <a:pt x="76000" y="0"/>
                  </a:lnTo>
                  <a:moveTo>
                    <a:pt x="68000" y="11000"/>
                  </a:moveTo>
                  <a:lnTo>
                    <a:pt x="79000" y="0"/>
                  </a:lnTo>
                  <a:moveTo>
                    <a:pt x="71000" y="11000"/>
                  </a:moveTo>
                  <a:lnTo>
                    <a:pt x="82000" y="0"/>
                  </a:lnTo>
                  <a:moveTo>
                    <a:pt x="74000" y="11000"/>
                  </a:moveTo>
                  <a:lnTo>
                    <a:pt x="85000" y="0"/>
                  </a:lnTo>
                  <a:moveTo>
                    <a:pt x="77000" y="11000"/>
                  </a:moveTo>
                  <a:lnTo>
                    <a:pt x="88000" y="0"/>
                  </a:lnTo>
                  <a:moveTo>
                    <a:pt x="80000" y="11000"/>
                  </a:moveTo>
                  <a:lnTo>
                    <a:pt x="91000" y="0"/>
                  </a:lnTo>
                  <a:moveTo>
                    <a:pt x="83000" y="11000"/>
                  </a:moveTo>
                  <a:lnTo>
                    <a:pt x="94000" y="0"/>
                  </a:lnTo>
                  <a:moveTo>
                    <a:pt x="86000" y="11000"/>
                  </a:moveTo>
                  <a:lnTo>
                    <a:pt x="97000" y="0"/>
                  </a:lnTo>
                  <a:moveTo>
                    <a:pt x="89000" y="11000"/>
                  </a:moveTo>
                  <a:lnTo>
                    <a:pt x="100000" y="0"/>
                  </a:lnTo>
                  <a:moveTo>
                    <a:pt x="92000" y="11000"/>
                  </a:moveTo>
                  <a:lnTo>
                    <a:pt x="102600" y="400"/>
                  </a:lnTo>
                  <a:moveTo>
                    <a:pt x="95000" y="11000"/>
                  </a:moveTo>
                  <a:lnTo>
                    <a:pt x="102600" y="3400"/>
                  </a:lnTo>
                  <a:moveTo>
                    <a:pt x="98000" y="11000"/>
                  </a:moveTo>
                  <a:lnTo>
                    <a:pt x="102600" y="6400"/>
                  </a:lnTo>
                  <a:moveTo>
                    <a:pt x="101000" y="11000"/>
                  </a:moveTo>
                  <a:lnTo>
                    <a:pt x="102600" y="94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p:p-tide 框"/>
            <p:cNvSpPr/>
            <p:nvPr/>
          </p:nvSpPr>
          <p:spPr>
            <a:xfrm>
              <a:off x="1790699" y="2895600"/>
              <a:ext cx="822960" cy="4191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6" name="p:p-tide 文字"/>
            <p:cNvSpPr txBox="1"/>
            <p:nvPr/>
          </p:nvSpPr>
          <p:spPr>
            <a:xfrm>
              <a:off x="1885950" y="28318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1</a:t>
              </a:r>
            </a:p>
          </p:txBody>
        </p:sp>
        <p:sp>
          <p:nvSpPr>
            <p:cNvPr id="67" name="p:p-tide 框"/>
            <p:cNvSpPr/>
            <p:nvPr/>
          </p:nvSpPr>
          <p:spPr>
            <a:xfrm>
              <a:off x="2613660" y="2895600"/>
              <a:ext cx="822960" cy="4191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8" name="p:p-tide 文字"/>
            <p:cNvSpPr txBox="1"/>
            <p:nvPr/>
          </p:nvSpPr>
          <p:spPr>
            <a:xfrm>
              <a:off x="2708910" y="28318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2</a:t>
              </a:r>
            </a:p>
          </p:txBody>
        </p:sp>
        <p:sp>
          <p:nvSpPr>
            <p:cNvPr id="69" name="p:p-tide 框"/>
            <p:cNvSpPr/>
            <p:nvPr/>
          </p:nvSpPr>
          <p:spPr>
            <a:xfrm>
              <a:off x="3436620" y="2895600"/>
              <a:ext cx="822960" cy="4191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0" name="p:p-tide 文字"/>
            <p:cNvSpPr txBox="1"/>
            <p:nvPr/>
          </p:nvSpPr>
          <p:spPr>
            <a:xfrm>
              <a:off x="3531870" y="28318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3</a:t>
              </a:r>
            </a:p>
          </p:txBody>
        </p:sp>
        <p:sp>
          <p:nvSpPr>
            <p:cNvPr id="71" name="p:p-tide 框"/>
            <p:cNvSpPr/>
            <p:nvPr/>
          </p:nvSpPr>
          <p:spPr>
            <a:xfrm>
              <a:off x="4259580" y="2895600"/>
              <a:ext cx="822960" cy="4191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2" name="p:p-tide 文字"/>
            <p:cNvSpPr txBox="1"/>
            <p:nvPr/>
          </p:nvSpPr>
          <p:spPr>
            <a:xfrm>
              <a:off x="4354830" y="28318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4</a:t>
              </a:r>
            </a:p>
          </p:txBody>
        </p:sp>
        <p:sp>
          <p:nvSpPr>
            <p:cNvPr id="73" name="p:p-tide 框"/>
            <p:cNvSpPr/>
            <p:nvPr/>
          </p:nvSpPr>
          <p:spPr>
            <a:xfrm>
              <a:off x="2613659" y="3581400"/>
              <a:ext cx="617219" cy="419100"/>
            </a:xfrm>
            <a:prstGeom prst="rect">
              <a:avLst/>
            </a:prstGeom>
            <a:solidFill>
              <a:srgbClr val="FBE5D6"/>
            </a:solidFill>
            <a:ln w="22859" cap="flat">
              <a:solidFill>
                <a:srgbClr val="C9A58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4" name="p:p-tide 文字"/>
            <p:cNvSpPr txBox="1"/>
            <p:nvPr/>
          </p:nvSpPr>
          <p:spPr>
            <a:xfrm>
              <a:off x="2606040" y="35176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1</a:t>
              </a:r>
            </a:p>
          </p:txBody>
        </p:sp>
        <p:sp>
          <p:nvSpPr>
            <p:cNvPr id="75" name="p:p-tide 框"/>
            <p:cNvSpPr/>
            <p:nvPr/>
          </p:nvSpPr>
          <p:spPr>
            <a:xfrm>
              <a:off x="3436619" y="3581400"/>
              <a:ext cx="617219" cy="419100"/>
            </a:xfrm>
            <a:prstGeom prst="rect">
              <a:avLst/>
            </a:prstGeom>
            <a:solidFill>
              <a:srgbClr val="FBE5D6"/>
            </a:solidFill>
            <a:ln w="22859" cap="flat">
              <a:solidFill>
                <a:srgbClr val="C9A58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6" name="p:p-tide 文字"/>
            <p:cNvSpPr txBox="1"/>
            <p:nvPr/>
          </p:nvSpPr>
          <p:spPr>
            <a:xfrm>
              <a:off x="3429000" y="35176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2</a:t>
              </a:r>
            </a:p>
          </p:txBody>
        </p:sp>
        <p:sp>
          <p:nvSpPr>
            <p:cNvPr id="77" name="p:p-tide 框"/>
            <p:cNvSpPr/>
            <p:nvPr/>
          </p:nvSpPr>
          <p:spPr>
            <a:xfrm>
              <a:off x="4259580" y="3581400"/>
              <a:ext cx="617219" cy="419100"/>
            </a:xfrm>
            <a:prstGeom prst="rect">
              <a:avLst/>
            </a:prstGeom>
            <a:solidFill>
              <a:srgbClr val="FBE5D6"/>
            </a:solidFill>
            <a:ln w="22859" cap="flat">
              <a:solidFill>
                <a:srgbClr val="C9A58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8" name="p:p-tide 文字"/>
            <p:cNvSpPr txBox="1"/>
            <p:nvPr/>
          </p:nvSpPr>
          <p:spPr>
            <a:xfrm>
              <a:off x="4251960" y="35176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3</a:t>
              </a:r>
            </a:p>
          </p:txBody>
        </p:sp>
        <p:sp>
          <p:nvSpPr>
            <p:cNvPr id="79" name="p:p-tide 框"/>
            <p:cNvSpPr/>
            <p:nvPr/>
          </p:nvSpPr>
          <p:spPr>
            <a:xfrm>
              <a:off x="5082540" y="3581400"/>
              <a:ext cx="617219" cy="419100"/>
            </a:xfrm>
            <a:prstGeom prst="rect">
              <a:avLst/>
            </a:prstGeom>
            <a:solidFill>
              <a:srgbClr val="FBE5D6"/>
            </a:solidFill>
            <a:ln w="3810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0" name="p:p-tide 文字"/>
            <p:cNvSpPr txBox="1"/>
            <p:nvPr/>
          </p:nvSpPr>
          <p:spPr>
            <a:xfrm>
              <a:off x="5074920" y="35176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4</a:t>
              </a:r>
            </a:p>
          </p:txBody>
        </p:sp>
        <p:sp>
          <p:nvSpPr>
            <p:cNvPr id="81" name="p:p-tide 框"/>
            <p:cNvSpPr/>
            <p:nvPr/>
          </p:nvSpPr>
          <p:spPr>
            <a:xfrm>
              <a:off x="5699759" y="4114800"/>
              <a:ext cx="2880360" cy="419100"/>
            </a:xfrm>
            <a:prstGeom prst="rect">
              <a:avLst/>
            </a:prstGeom>
            <a:solidFill>
              <a:srgbClr val="E2F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2" name="p:p-tide 框"/>
            <p:cNvSpPr/>
            <p:nvPr/>
          </p:nvSpPr>
          <p:spPr>
            <a:xfrm>
              <a:off x="8618219" y="4114800"/>
              <a:ext cx="91439" cy="419100"/>
            </a:xfrm>
            <a:prstGeom prst="rect">
              <a:avLst/>
            </a:prstGeom>
            <a:solidFill>
              <a:srgbClr val="EAF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3" name="p:p-tide 线"/>
            <p:cNvSpPr/>
            <p:nvPr/>
          </p:nvSpPr>
          <p:spPr>
            <a:xfrm>
              <a:off x="8618219" y="4114800"/>
              <a:ext cx="91440" cy="419100"/>
            </a:xfrm>
            <a:custGeom>
              <a:avLst/>
              <a:gdLst/>
              <a:ahLst/>
              <a:cxnLst/>
              <a:rect l="0" t="0" r="r" b="b"/>
              <a:pathLst>
                <a:path w="2400" h="11000" fill="none">
                  <a:moveTo>
                    <a:pt x="0" y="0"/>
                  </a:moveTo>
                  <a:lnTo>
                    <a:pt x="2400" y="0"/>
                  </a:lnTo>
                  <a:moveTo>
                    <a:pt x="0" y="11000"/>
                  </a:moveTo>
                  <a:lnTo>
                    <a:pt x="2400" y="11000"/>
                  </a:lnTo>
                </a:path>
              </a:pathLst>
            </a:custGeom>
            <a:noFill/>
            <a:ln w="22859" cap="flat">
              <a:solidFill>
                <a:srgbClr val="A2C68D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p:p-tide 框"/>
            <p:cNvSpPr/>
            <p:nvPr/>
          </p:nvSpPr>
          <p:spPr>
            <a:xfrm>
              <a:off x="8747760" y="4114800"/>
              <a:ext cx="76200" cy="419100"/>
            </a:xfrm>
            <a:prstGeom prst="rect">
              <a:avLst/>
            </a:prstGeom>
            <a:solidFill>
              <a:srgbClr val="F1F8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5" name="p:p-tide 线"/>
            <p:cNvSpPr/>
            <p:nvPr/>
          </p:nvSpPr>
          <p:spPr>
            <a:xfrm>
              <a:off x="8747760" y="4114800"/>
              <a:ext cx="76200" cy="419100"/>
            </a:xfrm>
            <a:custGeom>
              <a:avLst/>
              <a:gdLst/>
              <a:ahLst/>
              <a:cxnLst/>
              <a:rect l="0" t="0" r="r" b="b"/>
              <a:pathLst>
                <a:path w="2000" h="11000" fill="none">
                  <a:moveTo>
                    <a:pt x="0" y="0"/>
                  </a:moveTo>
                  <a:lnTo>
                    <a:pt x="2000" y="0"/>
                  </a:lnTo>
                  <a:moveTo>
                    <a:pt x="0" y="11000"/>
                  </a:moveTo>
                  <a:lnTo>
                    <a:pt x="2000" y="11000"/>
                  </a:lnTo>
                </a:path>
              </a:pathLst>
            </a:custGeom>
            <a:noFill/>
            <a:ln w="22859" cap="flat">
              <a:solidFill>
                <a:srgbClr val="C1D9B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p:p-tide 框"/>
            <p:cNvSpPr/>
            <p:nvPr/>
          </p:nvSpPr>
          <p:spPr>
            <a:xfrm>
              <a:off x="8862060" y="4114800"/>
              <a:ext cx="60960" cy="419100"/>
            </a:xfrm>
            <a:prstGeom prst="rect">
              <a:avLst/>
            </a:prstGeom>
            <a:solidFill>
              <a:srgbClr val="F8FB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7" name="p:p-tide 线"/>
            <p:cNvSpPr/>
            <p:nvPr/>
          </p:nvSpPr>
          <p:spPr>
            <a:xfrm>
              <a:off x="8862060" y="4114800"/>
              <a:ext cx="60959" cy="419100"/>
            </a:xfrm>
            <a:custGeom>
              <a:avLst/>
              <a:gdLst/>
              <a:ahLst/>
              <a:cxnLst/>
              <a:rect l="0" t="0" r="r" b="b"/>
              <a:pathLst>
                <a:path w="1599" h="11000" fill="none">
                  <a:moveTo>
                    <a:pt x="0" y="0"/>
                  </a:moveTo>
                  <a:lnTo>
                    <a:pt x="1600" y="0"/>
                  </a:lnTo>
                  <a:moveTo>
                    <a:pt x="0" y="11000"/>
                  </a:moveTo>
                  <a:lnTo>
                    <a:pt x="1600" y="11000"/>
                  </a:lnTo>
                </a:path>
              </a:pathLst>
            </a:custGeom>
            <a:noFill/>
            <a:ln w="22859" cap="flat">
              <a:solidFill>
                <a:srgbClr val="E0ECD9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p:p-tide 线"/>
            <p:cNvSpPr/>
            <p:nvPr/>
          </p:nvSpPr>
          <p:spPr>
            <a:xfrm>
              <a:off x="5699759" y="4114800"/>
              <a:ext cx="2880360" cy="419100"/>
            </a:xfrm>
            <a:custGeom>
              <a:avLst/>
              <a:gdLst/>
              <a:ahLst/>
              <a:cxnLst/>
              <a:rect l="0" t="0" r="r" b="b"/>
              <a:pathLst>
                <a:path w="75600" h="11000" fill="none">
                  <a:moveTo>
                    <a:pt x="75600" y="0"/>
                  </a:moveTo>
                  <a:lnTo>
                    <a:pt x="0" y="0"/>
                  </a:lnTo>
                  <a:lnTo>
                    <a:pt x="0" y="11000"/>
                  </a:lnTo>
                  <a:lnTo>
                    <a:pt x="75600" y="11000"/>
                  </a:lnTo>
                </a:path>
              </a:pathLst>
            </a:custGeom>
            <a:noFill/>
            <a:ln w="22859" cap="flat">
              <a:solidFill>
                <a:srgbClr val="82B36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p:p-tide 文字"/>
            <p:cNvSpPr txBox="1"/>
            <p:nvPr/>
          </p:nvSpPr>
          <p:spPr>
            <a:xfrm>
              <a:off x="5795009" y="4051077"/>
              <a:ext cx="130683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decode</a:t>
              </a:r>
            </a:p>
          </p:txBody>
        </p:sp>
        <p:cxnSp>
          <p:nvCxnSpPr>
            <p:cNvPr id="90" name="p:p-tide 线"/>
            <p:cNvCxnSpPr/>
            <p:nvPr/>
          </p:nvCxnSpPr>
          <p:spPr>
            <a:xfrm>
              <a:off x="2480310" y="3314700"/>
              <a:ext cx="228600" cy="266700"/>
            </a:xfrm>
            <a:prstGeom prst="line">
              <a:avLst/>
            </a:prstGeom>
            <a:ln w="22859" cap="flat">
              <a:solidFill>
                <a:srgbClr val="404040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p:p-tide 线"/>
            <p:cNvCxnSpPr/>
            <p:nvPr/>
          </p:nvCxnSpPr>
          <p:spPr>
            <a:xfrm>
              <a:off x="3303270" y="3314700"/>
              <a:ext cx="228600" cy="266700"/>
            </a:xfrm>
            <a:prstGeom prst="line">
              <a:avLst/>
            </a:prstGeom>
            <a:ln w="22859" cap="flat">
              <a:solidFill>
                <a:srgbClr val="404040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p:p-tide 线"/>
            <p:cNvCxnSpPr/>
            <p:nvPr/>
          </p:nvCxnSpPr>
          <p:spPr>
            <a:xfrm>
              <a:off x="4126229" y="3314700"/>
              <a:ext cx="228601" cy="266700"/>
            </a:xfrm>
            <a:prstGeom prst="line">
              <a:avLst/>
            </a:prstGeom>
            <a:ln w="22859" cap="flat">
              <a:solidFill>
                <a:srgbClr val="404040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p:p-tide 线"/>
            <p:cNvCxnSpPr/>
            <p:nvPr/>
          </p:nvCxnSpPr>
          <p:spPr>
            <a:xfrm>
              <a:off x="4949190" y="3314700"/>
              <a:ext cx="228600" cy="266700"/>
            </a:xfrm>
            <a:prstGeom prst="line">
              <a:avLst/>
            </a:prstGeom>
            <a:ln w="22859" cap="flat">
              <a:solidFill>
                <a:srgbClr val="ED7D31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p:p-tide 线"/>
            <p:cNvCxnSpPr/>
            <p:nvPr/>
          </p:nvCxnSpPr>
          <p:spPr>
            <a:xfrm>
              <a:off x="7551419" y="2505075"/>
              <a:ext cx="0" cy="2181225"/>
            </a:xfrm>
            <a:prstGeom prst="line">
              <a:avLst/>
            </a:prstGeom>
            <a:ln w="22859" cap="flat">
              <a:solidFill>
                <a:srgbClr val="7F7F7F"/>
              </a:solidFill>
              <a:custDash>
                <a:ds d="333333" sp="250000"/>
              </a:custDash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p:p-tide 线"/>
            <p:cNvCxnSpPr/>
            <p:nvPr/>
          </p:nvCxnSpPr>
          <p:spPr>
            <a:xfrm>
              <a:off x="5699759" y="2819400"/>
              <a:ext cx="0" cy="1866900"/>
            </a:xfrm>
            <a:prstGeom prst="line">
              <a:avLst/>
            </a:prstGeom>
            <a:ln w="34290" cap="flat">
              <a:solidFill>
                <a:srgbClr val="ED7D31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p:p-tide 文字"/>
            <p:cNvSpPr txBox="1"/>
            <p:nvPr/>
          </p:nvSpPr>
          <p:spPr>
            <a:xfrm>
              <a:off x="4707255" y="2361342"/>
              <a:ext cx="198501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BF5510"/>
                  </a:solidFill>
                  <a:latin typeface="Helvetica Neue"/>
                  <a:ea typeface="Source Han Sans CN"/>
                </a:rPr>
                <a:t>decode starts</a:t>
              </a:r>
            </a:p>
          </p:txBody>
        </p:sp>
        <p:cxnSp>
          <p:nvCxnSpPr>
            <p:cNvPr id="97" name="p:p-tide 线"/>
            <p:cNvCxnSpPr/>
            <p:nvPr/>
          </p:nvCxnSpPr>
          <p:spPr>
            <a:xfrm>
              <a:off x="5726430" y="3886200"/>
              <a:ext cx="1798320" cy="0"/>
            </a:xfrm>
            <a:prstGeom prst="line">
              <a:avLst/>
            </a:prstGeom>
            <a:ln w="22859" cap="flat">
              <a:solidFill>
                <a:srgbClr val="ED7D31"/>
              </a:solidFill>
              <a:miter/>
              <a:headEnd type="triangle" w="sm" len="sm"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p:p-tide 文字"/>
            <p:cNvSpPr txBox="1"/>
            <p:nvPr/>
          </p:nvSpPr>
          <p:spPr>
            <a:xfrm>
              <a:off x="5589270" y="3420522"/>
              <a:ext cx="207263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BF5510"/>
                  </a:solidFill>
                  <a:latin typeface="Helvetica Neue"/>
                  <a:ea typeface="Source Han Sans CN"/>
                </a:rPr>
                <a:t>−27 ms (32%)</a:t>
              </a:r>
            </a:p>
          </p:txBody>
        </p:sp>
      </p:grpSp>
      <p:grpSp>
        <p:nvGrpSpPr>
          <p:cNvPr id="126" name="l:time-axis Time (ms)"/>
          <p:cNvGrpSpPr/>
          <p:nvPr/>
        </p:nvGrpSpPr>
        <p:grpSpPr>
          <a:xfrm>
            <a:off x="1474470" y="4685442"/>
            <a:ext cx="7536180" cy="544830"/>
            <a:chOff x="1474470" y="4685442"/>
            <a:chExt cx="7536180" cy="544830"/>
          </a:xfrm>
        </p:grpSpPr>
        <p:cxnSp>
          <p:nvCxnSpPr>
            <p:cNvPr id="99" name="l:time-axis 线"/>
            <p:cNvCxnSpPr/>
            <p:nvPr/>
          </p:nvCxnSpPr>
          <p:spPr>
            <a:xfrm>
              <a:off x="1790700" y="4686300"/>
              <a:ext cx="7219950" cy="0"/>
            </a:xfrm>
            <a:prstGeom prst="line">
              <a:avLst/>
            </a:prstGeom>
            <a:ln w="22859" cap="flat">
              <a:solidFill>
                <a:srgbClr val="212121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l:time-axis 线"/>
            <p:cNvCxnSpPr/>
            <p:nvPr/>
          </p:nvCxnSpPr>
          <p:spPr>
            <a:xfrm>
              <a:off x="1790700" y="4686300"/>
              <a:ext cx="0" cy="95250"/>
            </a:xfrm>
            <a:prstGeom prst="line">
              <a:avLst/>
            </a:prstGeom>
            <a:ln w="22859" cap="flat">
              <a:solidFill>
                <a:srgbClr val="212121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l:time-axis 文字"/>
            <p:cNvSpPr txBox="1"/>
            <p:nvPr/>
          </p:nvSpPr>
          <p:spPr>
            <a:xfrm>
              <a:off x="1474470" y="4685442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0</a:t>
              </a:r>
            </a:p>
          </p:txBody>
        </p:sp>
        <p:cxnSp>
          <p:nvCxnSpPr>
            <p:cNvPr id="102" name="l:time-axis 线"/>
            <p:cNvCxnSpPr/>
            <p:nvPr/>
          </p:nvCxnSpPr>
          <p:spPr>
            <a:xfrm>
              <a:off x="2613660" y="4686300"/>
              <a:ext cx="0" cy="95250"/>
            </a:xfrm>
            <a:prstGeom prst="line">
              <a:avLst/>
            </a:prstGeom>
            <a:ln w="22859" cap="flat">
              <a:solidFill>
                <a:srgbClr val="212121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l:time-axis 文字"/>
            <p:cNvSpPr txBox="1"/>
            <p:nvPr/>
          </p:nvSpPr>
          <p:spPr>
            <a:xfrm>
              <a:off x="2228849" y="4685442"/>
              <a:ext cx="76961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12</a:t>
              </a:r>
            </a:p>
          </p:txBody>
        </p:sp>
        <p:cxnSp>
          <p:nvCxnSpPr>
            <p:cNvPr id="104" name="l:time-axis 线"/>
            <p:cNvCxnSpPr/>
            <p:nvPr/>
          </p:nvCxnSpPr>
          <p:spPr>
            <a:xfrm>
              <a:off x="3436620" y="4686300"/>
              <a:ext cx="0" cy="95250"/>
            </a:xfrm>
            <a:prstGeom prst="line">
              <a:avLst/>
            </a:prstGeom>
            <a:ln w="22859" cap="flat">
              <a:solidFill>
                <a:srgbClr val="212121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l:time-axis 文字"/>
            <p:cNvSpPr txBox="1"/>
            <p:nvPr/>
          </p:nvSpPr>
          <p:spPr>
            <a:xfrm>
              <a:off x="3051810" y="4685442"/>
              <a:ext cx="76961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24</a:t>
              </a:r>
            </a:p>
          </p:txBody>
        </p:sp>
        <p:cxnSp>
          <p:nvCxnSpPr>
            <p:cNvPr id="106" name="l:time-axis 线"/>
            <p:cNvCxnSpPr/>
            <p:nvPr/>
          </p:nvCxnSpPr>
          <p:spPr>
            <a:xfrm>
              <a:off x="4259580" y="4686300"/>
              <a:ext cx="0" cy="95250"/>
            </a:xfrm>
            <a:prstGeom prst="line">
              <a:avLst/>
            </a:prstGeom>
            <a:ln w="22859" cap="flat">
              <a:solidFill>
                <a:srgbClr val="212121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l:time-axis 文字"/>
            <p:cNvSpPr txBox="1"/>
            <p:nvPr/>
          </p:nvSpPr>
          <p:spPr>
            <a:xfrm>
              <a:off x="3874770" y="4685442"/>
              <a:ext cx="76961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36</a:t>
              </a:r>
            </a:p>
          </p:txBody>
        </p:sp>
        <p:cxnSp>
          <p:nvCxnSpPr>
            <p:cNvPr id="108" name="l:time-axis 线"/>
            <p:cNvCxnSpPr/>
            <p:nvPr/>
          </p:nvCxnSpPr>
          <p:spPr>
            <a:xfrm>
              <a:off x="5082540" y="4686300"/>
              <a:ext cx="0" cy="95250"/>
            </a:xfrm>
            <a:prstGeom prst="line">
              <a:avLst/>
            </a:prstGeom>
            <a:ln w="22859" cap="flat">
              <a:solidFill>
                <a:srgbClr val="212121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l:time-axis 文字"/>
            <p:cNvSpPr txBox="1"/>
            <p:nvPr/>
          </p:nvSpPr>
          <p:spPr>
            <a:xfrm>
              <a:off x="4697730" y="4685442"/>
              <a:ext cx="76961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48</a:t>
              </a:r>
            </a:p>
          </p:txBody>
        </p:sp>
        <p:cxnSp>
          <p:nvCxnSpPr>
            <p:cNvPr id="110" name="l:time-axis 线"/>
            <p:cNvCxnSpPr/>
            <p:nvPr/>
          </p:nvCxnSpPr>
          <p:spPr>
            <a:xfrm>
              <a:off x="5699759" y="4686300"/>
              <a:ext cx="0" cy="95250"/>
            </a:xfrm>
            <a:prstGeom prst="line">
              <a:avLst/>
            </a:prstGeom>
            <a:ln w="22859" cap="flat">
              <a:solidFill>
                <a:srgbClr val="212121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l:time-axis 文字"/>
            <p:cNvSpPr txBox="1"/>
            <p:nvPr/>
          </p:nvSpPr>
          <p:spPr>
            <a:xfrm>
              <a:off x="5314950" y="4685442"/>
              <a:ext cx="76961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BF5510"/>
                  </a:solidFill>
                  <a:latin typeface="Helvetica Neue"/>
                  <a:ea typeface="Source Han Sans CN"/>
                </a:rPr>
                <a:t>57</a:t>
              </a:r>
            </a:p>
          </p:txBody>
        </p:sp>
        <p:cxnSp>
          <p:nvCxnSpPr>
            <p:cNvPr id="112" name="l:time-axis 线"/>
            <p:cNvCxnSpPr/>
            <p:nvPr/>
          </p:nvCxnSpPr>
          <p:spPr>
            <a:xfrm>
              <a:off x="7551419" y="4686300"/>
              <a:ext cx="0" cy="95250"/>
            </a:xfrm>
            <a:prstGeom prst="line">
              <a:avLst/>
            </a:prstGeom>
            <a:ln w="22859" cap="flat">
              <a:solidFill>
                <a:srgbClr val="212121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l:time-axis 文字"/>
            <p:cNvSpPr txBox="1"/>
            <p:nvPr/>
          </p:nvSpPr>
          <p:spPr>
            <a:xfrm>
              <a:off x="7166609" y="4685442"/>
              <a:ext cx="76961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84</a:t>
              </a:r>
            </a:p>
          </p:txBody>
        </p:sp>
        <p:sp>
          <p:nvSpPr>
            <p:cNvPr id="114" name="l:time-axis 文字"/>
            <p:cNvSpPr txBox="1"/>
            <p:nvPr/>
          </p:nvSpPr>
          <p:spPr>
            <a:xfrm>
              <a:off x="7379969" y="4685442"/>
              <a:ext cx="161163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Time (ms)</a:t>
              </a:r>
            </a:p>
          </p:txBody>
        </p:sp>
      </p:grpSp>
      <p:grpSp>
        <p:nvGrpSpPr>
          <p:cNvPr id="127" name="legend 图例"/>
          <p:cNvGrpSpPr/>
          <p:nvPr/>
        </p:nvGrpSpPr>
        <p:grpSpPr>
          <a:xfrm>
            <a:off x="152400" y="5098161"/>
            <a:ext cx="9292588" cy="502920"/>
            <a:chOff x="152400" y="5098161"/>
            <a:chExt cx="9292588" cy="502920"/>
          </a:xfrm>
        </p:grpSpPr>
        <p:sp>
          <p:nvSpPr>
            <p:cNvPr id="115" name="legend 框"/>
            <p:cNvSpPr/>
            <p:nvPr/>
          </p:nvSpPr>
          <p:spPr>
            <a:xfrm>
              <a:off x="152400" y="5238750"/>
              <a:ext cx="381000" cy="228600"/>
            </a:xfrm>
            <a:prstGeom prst="rect">
              <a:avLst/>
            </a:prstGeom>
            <a:solidFill>
              <a:srgbClr val="DDEBF7"/>
            </a:solidFill>
            <a:ln w="22859" cap="flat">
              <a:solidFill>
                <a:srgbClr val="6C8E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16" name="legend 文字"/>
            <p:cNvSpPr txBox="1"/>
            <p:nvPr/>
          </p:nvSpPr>
          <p:spPr>
            <a:xfrm>
              <a:off x="628650" y="5098161"/>
              <a:ext cx="1329689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compute</a:t>
              </a:r>
            </a:p>
          </p:txBody>
        </p:sp>
        <p:sp>
          <p:nvSpPr>
            <p:cNvPr id="117" name="legend 框"/>
            <p:cNvSpPr/>
            <p:nvPr/>
          </p:nvSpPr>
          <p:spPr>
            <a:xfrm>
              <a:off x="2655570" y="5238750"/>
              <a:ext cx="381000" cy="228600"/>
            </a:xfrm>
            <a:prstGeom prst="rect">
              <a:avLst/>
            </a:prstGeom>
            <a:solidFill>
              <a:srgbClr val="FBE5D6"/>
            </a:solidFill>
            <a:ln w="22859" cap="flat">
              <a:solidFill>
                <a:srgbClr val="C9A58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18" name="legend 文字"/>
            <p:cNvSpPr txBox="1"/>
            <p:nvPr/>
          </p:nvSpPr>
          <p:spPr>
            <a:xfrm>
              <a:off x="3131819" y="5098161"/>
              <a:ext cx="123063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transfer</a:t>
              </a:r>
            </a:p>
          </p:txBody>
        </p:sp>
        <p:sp>
          <p:nvSpPr>
            <p:cNvPr id="119" name="legend 框"/>
            <p:cNvSpPr/>
            <p:nvPr/>
          </p:nvSpPr>
          <p:spPr>
            <a:xfrm>
              <a:off x="5059680" y="5238750"/>
              <a:ext cx="381000" cy="228600"/>
            </a:xfrm>
            <a:prstGeom prst="rect">
              <a:avLst/>
            </a:prstGeom>
            <a:solidFill>
              <a:srgbClr val="FBE5D6"/>
            </a:solidFill>
            <a:ln w="3810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20" name="legend 文字"/>
            <p:cNvSpPr txBox="1"/>
            <p:nvPr/>
          </p:nvSpPr>
          <p:spPr>
            <a:xfrm>
              <a:off x="5535930" y="5098161"/>
              <a:ext cx="192405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on critical path</a:t>
              </a:r>
            </a:p>
          </p:txBody>
        </p:sp>
        <p:sp>
          <p:nvSpPr>
            <p:cNvPr id="121" name="legend 框"/>
            <p:cNvSpPr/>
            <p:nvPr/>
          </p:nvSpPr>
          <p:spPr>
            <a:xfrm>
              <a:off x="8161019" y="5238750"/>
              <a:ext cx="381000" cy="228600"/>
            </a:xfrm>
            <a:prstGeom prst="rect">
              <a:avLst/>
            </a:prstGeom>
            <a:solidFill>
              <a:srgbClr val="F7F7F7"/>
            </a:solidFill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22" name="legend 线"/>
            <p:cNvSpPr/>
            <p:nvPr/>
          </p:nvSpPr>
          <p:spPr>
            <a:xfrm>
              <a:off x="8161019" y="5238750"/>
              <a:ext cx="381000" cy="228600"/>
            </a:xfrm>
            <a:custGeom>
              <a:avLst/>
              <a:gdLst/>
              <a:ahLst/>
              <a:cxnLst/>
              <a:rect l="0" t="0" r="r" b="b"/>
              <a:pathLst>
                <a:path w="10000" h="6000" fill="none">
                  <a:moveTo>
                    <a:pt x="0" y="2300"/>
                  </a:moveTo>
                  <a:lnTo>
                    <a:pt x="2300" y="0"/>
                  </a:lnTo>
                  <a:moveTo>
                    <a:pt x="0" y="5300"/>
                  </a:moveTo>
                  <a:lnTo>
                    <a:pt x="5300" y="0"/>
                  </a:lnTo>
                  <a:moveTo>
                    <a:pt x="2300" y="6000"/>
                  </a:moveTo>
                  <a:lnTo>
                    <a:pt x="8300" y="0"/>
                  </a:lnTo>
                  <a:moveTo>
                    <a:pt x="5300" y="6000"/>
                  </a:moveTo>
                  <a:lnTo>
                    <a:pt x="10000" y="1300"/>
                  </a:lnTo>
                  <a:moveTo>
                    <a:pt x="8300" y="6000"/>
                  </a:moveTo>
                  <a:lnTo>
                    <a:pt x="10000" y="4300"/>
                  </a:lnTo>
                </a:path>
              </a:pathLst>
            </a:custGeom>
            <a:noFill/>
            <a:ln w="15240" cap="flat">
              <a:solidFill>
                <a:srgbClr val="BFBFBF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legend 文字"/>
            <p:cNvSpPr txBox="1"/>
            <p:nvPr/>
          </p:nvSpPr>
          <p:spPr>
            <a:xfrm>
              <a:off x="8637269" y="5098161"/>
              <a:ext cx="807719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D0D0D"/>
                  </a:solidFill>
                  <a:latin typeface="Helvetica Neue"/>
                  <a:ea typeface="Source Han Sans CN"/>
                </a:rPr>
                <a:t>idle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